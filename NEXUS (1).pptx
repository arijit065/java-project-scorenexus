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Sifonn" charset="1" panose="00000000000000000000"/>
      <p:regular r:id="rId27"/>
    </p:embeddedFont>
    <p:embeddedFont>
      <p:font typeface="Fredoka" charset="1" panose="02000000000000000000"/>
      <p:regular r:id="rId28"/>
    </p:embeddedFont>
    <p:embeddedFont>
      <p:font typeface="Canva Sans Bold" charset="1" panose="020B0803030501040103"/>
      <p:regular r:id="rId29"/>
    </p:embeddedFont>
    <p:embeddedFont>
      <p:font typeface="Canva Sans" charset="1" panose="020B05030305010401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1.png" Type="http://schemas.openxmlformats.org/officeDocument/2006/relationships/image"/><Relationship Id="rId17" Target="../media/image12.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jpeg" Type="http://schemas.openxmlformats.org/officeDocument/2006/relationships/image"/><Relationship Id="rId11" Target="../media/image38.png" Type="http://schemas.openxmlformats.org/officeDocument/2006/relationships/image"/><Relationship Id="rId12" Target="../media/image39.svg" Type="http://schemas.openxmlformats.org/officeDocument/2006/relationships/image"/><Relationship Id="rId13" Target="../media/image40.png" Type="http://schemas.openxmlformats.org/officeDocument/2006/relationships/image"/><Relationship Id="rId14" Target="../media/image41.svg" Type="http://schemas.openxmlformats.org/officeDocument/2006/relationships/image"/><Relationship Id="rId15" Target="../media/image5.png" Type="http://schemas.openxmlformats.org/officeDocument/2006/relationships/image"/><Relationship Id="rId16" Target="../media/image6.svg" Type="http://schemas.openxmlformats.org/officeDocument/2006/relationships/image"/><Relationship Id="rId17" Target="../media/image9.png" Type="http://schemas.openxmlformats.org/officeDocument/2006/relationships/image"/><Relationship Id="rId18" Target="../media/image10.svg" Type="http://schemas.openxmlformats.org/officeDocument/2006/relationships/image"/><Relationship Id="rId19" Target="../media/image42.jpeg" Type="http://schemas.openxmlformats.org/officeDocument/2006/relationships/image"/><Relationship Id="rId2" Target="../media/image11.png" Type="http://schemas.openxmlformats.org/officeDocument/2006/relationships/image"/><Relationship Id="rId20" Target="../media/image43.jpeg" Type="http://schemas.openxmlformats.org/officeDocument/2006/relationships/image"/><Relationship Id="rId3" Target="../media/image1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svg" Type="http://schemas.openxmlformats.org/officeDocument/2006/relationships/image"/><Relationship Id="rId12" Target="../media/image50.png" Type="http://schemas.openxmlformats.org/officeDocument/2006/relationships/image"/><Relationship Id="rId13" Target="../media/image51.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46.png" Type="http://schemas.openxmlformats.org/officeDocument/2006/relationships/image"/><Relationship Id="rId9" Target="../media/image4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svg" Type="http://schemas.openxmlformats.org/officeDocument/2006/relationships/image"/><Relationship Id="rId12" Target="../media/image58.png" Type="http://schemas.openxmlformats.org/officeDocument/2006/relationships/image"/><Relationship Id="rId13" Target="../media/image59.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52.png" Type="http://schemas.openxmlformats.org/officeDocument/2006/relationships/image"/><Relationship Id="rId7" Target="../media/image53.svg" Type="http://schemas.openxmlformats.org/officeDocument/2006/relationships/image"/><Relationship Id="rId8" Target="../media/image54.png" Type="http://schemas.openxmlformats.org/officeDocument/2006/relationships/image"/><Relationship Id="rId9" Target="../media/image5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svg" Type="http://schemas.openxmlformats.org/officeDocument/2006/relationships/image"/><Relationship Id="rId12" Target="../media/image50.png" Type="http://schemas.openxmlformats.org/officeDocument/2006/relationships/image"/><Relationship Id="rId13" Target="../media/image51.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46.png" Type="http://schemas.openxmlformats.org/officeDocument/2006/relationships/image"/><Relationship Id="rId9" Target="../media/image4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60.pn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52.png" Type="http://schemas.openxmlformats.org/officeDocument/2006/relationships/image"/><Relationship Id="rId7" Target="../media/image53.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svg" Type="http://schemas.openxmlformats.org/officeDocument/2006/relationships/image"/><Relationship Id="rId12" Target="../media/image58.png" Type="http://schemas.openxmlformats.org/officeDocument/2006/relationships/image"/><Relationship Id="rId13" Target="../media/image59.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52.png" Type="http://schemas.openxmlformats.org/officeDocument/2006/relationships/image"/><Relationship Id="rId7" Target="../media/image53.svg" Type="http://schemas.openxmlformats.org/officeDocument/2006/relationships/image"/><Relationship Id="rId8" Target="../media/image54.png" Type="http://schemas.openxmlformats.org/officeDocument/2006/relationships/image"/><Relationship Id="rId9" Target="../media/image5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png" Type="http://schemas.openxmlformats.org/officeDocument/2006/relationships/image"/><Relationship Id="rId11" Target="../media/image62.svg" Type="http://schemas.openxmlformats.org/officeDocument/2006/relationships/image"/><Relationship Id="rId12" Target="../media/image63.png" Type="http://schemas.openxmlformats.org/officeDocument/2006/relationships/image"/><Relationship Id="rId13" Target="../media/image64.svg" Type="http://schemas.openxmlformats.org/officeDocument/2006/relationships/image"/><Relationship Id="rId14" Target="../media/image65.png" Type="http://schemas.openxmlformats.org/officeDocument/2006/relationships/image"/><Relationship Id="rId15" Target="../media/image66.svg" Type="http://schemas.openxmlformats.org/officeDocument/2006/relationships/image"/><Relationship Id="rId16" Target="../media/image67.png" Type="http://schemas.openxmlformats.org/officeDocument/2006/relationships/image"/><Relationship Id="rId17" Target="../media/image68.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svg" Type="http://schemas.openxmlformats.org/officeDocument/2006/relationships/image"/><Relationship Id="rId12" Target="../media/image50.png" Type="http://schemas.openxmlformats.org/officeDocument/2006/relationships/image"/><Relationship Id="rId13" Target="../media/image51.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18" Target="../media/image69.jpe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46.png" Type="http://schemas.openxmlformats.org/officeDocument/2006/relationships/image"/><Relationship Id="rId9" Target="../media/image4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70.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7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svg" Type="http://schemas.openxmlformats.org/officeDocument/2006/relationships/image"/><Relationship Id="rId12" Target="../media/image50.png" Type="http://schemas.openxmlformats.org/officeDocument/2006/relationships/image"/><Relationship Id="rId13" Target="../media/image51.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18" Target="../media/image72.jpe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46.png" Type="http://schemas.openxmlformats.org/officeDocument/2006/relationships/image"/><Relationship Id="rId9" Target="../media/image4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png" Type="http://schemas.openxmlformats.org/officeDocument/2006/relationships/image"/><Relationship Id="rId11" Target="../media/image62.svg" Type="http://schemas.openxmlformats.org/officeDocument/2006/relationships/image"/><Relationship Id="rId12" Target="../media/image63.png" Type="http://schemas.openxmlformats.org/officeDocument/2006/relationships/image"/><Relationship Id="rId13" Target="../media/image64.svg" Type="http://schemas.openxmlformats.org/officeDocument/2006/relationships/image"/><Relationship Id="rId14" Target="../media/image65.png" Type="http://schemas.openxmlformats.org/officeDocument/2006/relationships/image"/><Relationship Id="rId15" Target="../media/image66.svg" Type="http://schemas.openxmlformats.org/officeDocument/2006/relationships/image"/><Relationship Id="rId16" Target="../media/image67.png" Type="http://schemas.openxmlformats.org/officeDocument/2006/relationships/image"/><Relationship Id="rId17" Target="../media/image68.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svg" Type="http://schemas.openxmlformats.org/officeDocument/2006/relationships/image"/><Relationship Id="rId12" Target="../media/image50.png" Type="http://schemas.openxmlformats.org/officeDocument/2006/relationships/image"/><Relationship Id="rId13" Target="../media/image51.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18" Target="../media/image73.jpe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46.png" Type="http://schemas.openxmlformats.org/officeDocument/2006/relationships/image"/><Relationship Id="rId9" Target="../media/image4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7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svg" Type="http://schemas.openxmlformats.org/officeDocument/2006/relationships/image"/><Relationship Id="rId12" Target="../media/image50.png" Type="http://schemas.openxmlformats.org/officeDocument/2006/relationships/image"/><Relationship Id="rId13" Target="../media/image51.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18" Target="../media/image75.jpe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46.png" Type="http://schemas.openxmlformats.org/officeDocument/2006/relationships/image"/><Relationship Id="rId9" Target="../media/image4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svg" Type="http://schemas.openxmlformats.org/officeDocument/2006/relationships/image"/><Relationship Id="rId12" Target="../media/image58.png" Type="http://schemas.openxmlformats.org/officeDocument/2006/relationships/image"/><Relationship Id="rId13" Target="../media/image59.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52.png" Type="http://schemas.openxmlformats.org/officeDocument/2006/relationships/image"/><Relationship Id="rId7" Target="../media/image53.svg" Type="http://schemas.openxmlformats.org/officeDocument/2006/relationships/image"/><Relationship Id="rId8" Target="../media/image54.png" Type="http://schemas.openxmlformats.org/officeDocument/2006/relationships/image"/><Relationship Id="rId9" Target="../media/image55.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svg" Type="http://schemas.openxmlformats.org/officeDocument/2006/relationships/image"/><Relationship Id="rId12" Target="../media/image58.png" Type="http://schemas.openxmlformats.org/officeDocument/2006/relationships/image"/><Relationship Id="rId13" Target="../media/image59.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52.png" Type="http://schemas.openxmlformats.org/officeDocument/2006/relationships/image"/><Relationship Id="rId7" Target="../media/image53.svg" Type="http://schemas.openxmlformats.org/officeDocument/2006/relationships/image"/><Relationship Id="rId8" Target="../media/image54.png" Type="http://schemas.openxmlformats.org/officeDocument/2006/relationships/image"/><Relationship Id="rId9" Target="../media/image55.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png" Type="http://schemas.openxmlformats.org/officeDocument/2006/relationships/image"/><Relationship Id="rId11" Target="../media/image62.svg" Type="http://schemas.openxmlformats.org/officeDocument/2006/relationships/image"/><Relationship Id="rId12" Target="../media/image63.png" Type="http://schemas.openxmlformats.org/officeDocument/2006/relationships/image"/><Relationship Id="rId13" Target="../media/image64.svg" Type="http://schemas.openxmlformats.org/officeDocument/2006/relationships/image"/><Relationship Id="rId14" Target="../media/image65.png" Type="http://schemas.openxmlformats.org/officeDocument/2006/relationships/image"/><Relationship Id="rId15" Target="../media/image66.svg" Type="http://schemas.openxmlformats.org/officeDocument/2006/relationships/image"/><Relationship Id="rId16" Target="../media/image67.png" Type="http://schemas.openxmlformats.org/officeDocument/2006/relationships/image"/><Relationship Id="rId17" Target="../media/image68.svg" Type="http://schemas.openxmlformats.org/officeDocument/2006/relationships/image"/><Relationship Id="rId18" Target="https://github.com/xerial/sqlite-jdbc" TargetMode="External" Type="http://schemas.openxmlformats.org/officeDocument/2006/relationships/hyperlink"/><Relationship Id="rId19" Target="https://stackoverflow.com/questions/tagged/java-swing" TargetMode="External" Type="http://schemas.openxmlformats.org/officeDocument/2006/relationships/hyperlink"/><Relationship Id="rId2" Target="../media/image11.png" Type="http://schemas.openxmlformats.org/officeDocument/2006/relationships/image"/><Relationship Id="rId20" Target="https://docs.oracle.com/javase/tutorial/jdbc/" TargetMode="External" Type="http://schemas.openxmlformats.org/officeDocument/2006/relationships/hyperlink"/><Relationship Id="rId21" Target="https://docs.oracle.com/javase/tutorial/jdbc/" TargetMode="External" Type="http://schemas.openxmlformats.org/officeDocument/2006/relationships/hyperlink"/><Relationship Id="rId3" Target="../media/image1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18" Target="../media/image15.png" Type="http://schemas.openxmlformats.org/officeDocument/2006/relationships/image"/><Relationship Id="rId19"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6.png" Type="http://schemas.openxmlformats.org/officeDocument/2006/relationships/image"/><Relationship Id="rId5" Target="../media/image77.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55645" y="6528871"/>
            <a:ext cx="6803794" cy="6766683"/>
          </a:xfrm>
          <a:custGeom>
            <a:avLst/>
            <a:gdLst/>
            <a:ahLst/>
            <a:cxnLst/>
            <a:rect r="r" b="b" t="t" l="l"/>
            <a:pathLst>
              <a:path h="6766683" w="6803794">
                <a:moveTo>
                  <a:pt x="0" y="0"/>
                </a:moveTo>
                <a:lnTo>
                  <a:pt x="6803795" y="0"/>
                </a:lnTo>
                <a:lnTo>
                  <a:pt x="6803795" y="6766683"/>
                </a:lnTo>
                <a:lnTo>
                  <a:pt x="0" y="6766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11547">
            <a:off x="-495738" y="3278202"/>
            <a:ext cx="2191276" cy="7627860"/>
          </a:xfrm>
          <a:custGeom>
            <a:avLst/>
            <a:gdLst/>
            <a:ahLst/>
            <a:cxnLst/>
            <a:rect r="r" b="b" t="t" l="l"/>
            <a:pathLst>
              <a:path h="7627860" w="2191276">
                <a:moveTo>
                  <a:pt x="0" y="0"/>
                </a:moveTo>
                <a:lnTo>
                  <a:pt x="2191276" y="0"/>
                </a:lnTo>
                <a:lnTo>
                  <a:pt x="2191276" y="7627859"/>
                </a:lnTo>
                <a:lnTo>
                  <a:pt x="0" y="76278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326952" y="496218"/>
            <a:ext cx="9826514" cy="9790782"/>
          </a:xfrm>
          <a:custGeom>
            <a:avLst/>
            <a:gdLst/>
            <a:ahLst/>
            <a:cxnLst/>
            <a:rect r="r" b="b" t="t" l="l"/>
            <a:pathLst>
              <a:path h="9790782" w="9826514">
                <a:moveTo>
                  <a:pt x="0" y="0"/>
                </a:moveTo>
                <a:lnTo>
                  <a:pt x="9826514" y="0"/>
                </a:lnTo>
                <a:lnTo>
                  <a:pt x="9826514" y="9790782"/>
                </a:lnTo>
                <a:lnTo>
                  <a:pt x="0" y="97907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002602" y="1478567"/>
            <a:ext cx="7717167" cy="7547000"/>
          </a:xfrm>
          <a:custGeom>
            <a:avLst/>
            <a:gdLst/>
            <a:ahLst/>
            <a:cxnLst/>
            <a:rect r="r" b="b" t="t" l="l"/>
            <a:pathLst>
              <a:path h="7547000" w="7717167">
                <a:moveTo>
                  <a:pt x="0" y="0"/>
                </a:moveTo>
                <a:lnTo>
                  <a:pt x="7717167" y="0"/>
                </a:lnTo>
                <a:lnTo>
                  <a:pt x="7717167" y="7546999"/>
                </a:lnTo>
                <a:lnTo>
                  <a:pt x="0" y="75469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137725">
            <a:off x="2240433" y="3170289"/>
            <a:ext cx="2093963" cy="2945473"/>
          </a:xfrm>
          <a:custGeom>
            <a:avLst/>
            <a:gdLst/>
            <a:ahLst/>
            <a:cxnLst/>
            <a:rect r="r" b="b" t="t" l="l"/>
            <a:pathLst>
              <a:path h="2945473" w="2093963">
                <a:moveTo>
                  <a:pt x="0" y="0"/>
                </a:moveTo>
                <a:lnTo>
                  <a:pt x="2093963" y="0"/>
                </a:lnTo>
                <a:lnTo>
                  <a:pt x="2093963" y="2945473"/>
                </a:lnTo>
                <a:lnTo>
                  <a:pt x="0" y="29454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6185527">
            <a:off x="11504736" y="-251985"/>
            <a:ext cx="1046352" cy="1969176"/>
          </a:xfrm>
          <a:custGeom>
            <a:avLst/>
            <a:gdLst/>
            <a:ahLst/>
            <a:cxnLst/>
            <a:rect r="r" b="b" t="t" l="l"/>
            <a:pathLst>
              <a:path h="1969176" w="1046352">
                <a:moveTo>
                  <a:pt x="0" y="0"/>
                </a:moveTo>
                <a:lnTo>
                  <a:pt x="1046352" y="0"/>
                </a:lnTo>
                <a:lnTo>
                  <a:pt x="1046352" y="1969176"/>
                </a:lnTo>
                <a:lnTo>
                  <a:pt x="0" y="196917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3528130" y="1267235"/>
            <a:ext cx="798822" cy="1036912"/>
          </a:xfrm>
          <a:custGeom>
            <a:avLst/>
            <a:gdLst/>
            <a:ahLst/>
            <a:cxnLst/>
            <a:rect r="r" b="b" t="t" l="l"/>
            <a:pathLst>
              <a:path h="1036912" w="798822">
                <a:moveTo>
                  <a:pt x="0" y="0"/>
                </a:moveTo>
                <a:lnTo>
                  <a:pt x="798822" y="0"/>
                </a:lnTo>
                <a:lnTo>
                  <a:pt x="798822" y="1036913"/>
                </a:lnTo>
                <a:lnTo>
                  <a:pt x="0" y="103691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1654439" y="9475433"/>
            <a:ext cx="1450977" cy="1773286"/>
          </a:xfrm>
          <a:custGeom>
            <a:avLst/>
            <a:gdLst/>
            <a:ahLst/>
            <a:cxnLst/>
            <a:rect r="r" b="b" t="t" l="l"/>
            <a:pathLst>
              <a:path h="1773286" w="1450977">
                <a:moveTo>
                  <a:pt x="0" y="0"/>
                </a:moveTo>
                <a:lnTo>
                  <a:pt x="1450977" y="0"/>
                </a:lnTo>
                <a:lnTo>
                  <a:pt x="1450977" y="1773285"/>
                </a:lnTo>
                <a:lnTo>
                  <a:pt x="0" y="177328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15497107" y="-187765"/>
            <a:ext cx="2790893" cy="2910000"/>
          </a:xfrm>
          <a:custGeom>
            <a:avLst/>
            <a:gdLst/>
            <a:ahLst/>
            <a:cxnLst/>
            <a:rect r="r" b="b" t="t" l="l"/>
            <a:pathLst>
              <a:path h="2910000" w="2790893">
                <a:moveTo>
                  <a:pt x="0" y="0"/>
                </a:moveTo>
                <a:lnTo>
                  <a:pt x="2790893" y="0"/>
                </a:lnTo>
                <a:lnTo>
                  <a:pt x="2790893" y="2910001"/>
                </a:lnTo>
                <a:lnTo>
                  <a:pt x="0" y="2910001"/>
                </a:lnTo>
                <a:lnTo>
                  <a:pt x="0" y="0"/>
                </a:lnTo>
                <a:close/>
              </a:path>
            </a:pathLst>
          </a:custGeom>
          <a:blipFill>
            <a:blip r:embed="rId18"/>
            <a:stretch>
              <a:fillRect l="-390" t="0" r="-3876" b="0"/>
            </a:stretch>
          </a:blipFill>
        </p:spPr>
      </p:sp>
      <p:sp>
        <p:nvSpPr>
          <p:cNvPr name="Freeform 11" id="11"/>
          <p:cNvSpPr/>
          <p:nvPr/>
        </p:nvSpPr>
        <p:spPr>
          <a:xfrm flipH="false" flipV="false" rot="0">
            <a:off x="0" y="127342"/>
            <a:ext cx="2603132" cy="2594894"/>
          </a:xfrm>
          <a:custGeom>
            <a:avLst/>
            <a:gdLst/>
            <a:ahLst/>
            <a:cxnLst/>
            <a:rect r="r" b="b" t="t" l="l"/>
            <a:pathLst>
              <a:path h="2594894" w="2603132">
                <a:moveTo>
                  <a:pt x="0" y="0"/>
                </a:moveTo>
                <a:lnTo>
                  <a:pt x="2603132" y="0"/>
                </a:lnTo>
                <a:lnTo>
                  <a:pt x="2603132" y="2594894"/>
                </a:lnTo>
                <a:lnTo>
                  <a:pt x="0" y="2594894"/>
                </a:lnTo>
                <a:lnTo>
                  <a:pt x="0" y="0"/>
                </a:lnTo>
                <a:close/>
              </a:path>
            </a:pathLst>
          </a:custGeom>
          <a:blipFill>
            <a:blip r:embed="rId19"/>
            <a:stretch>
              <a:fillRect l="0" t="0" r="0" b="0"/>
            </a:stretch>
          </a:blipFill>
        </p:spPr>
      </p:sp>
      <p:sp>
        <p:nvSpPr>
          <p:cNvPr name="Freeform 12" id="12"/>
          <p:cNvSpPr/>
          <p:nvPr/>
        </p:nvSpPr>
        <p:spPr>
          <a:xfrm flipH="false" flipV="false" rot="0">
            <a:off x="14086491" y="3335836"/>
            <a:ext cx="3955873" cy="6386071"/>
          </a:xfrm>
          <a:custGeom>
            <a:avLst/>
            <a:gdLst/>
            <a:ahLst/>
            <a:cxnLst/>
            <a:rect r="r" b="b" t="t" l="l"/>
            <a:pathLst>
              <a:path h="6386071" w="3955873">
                <a:moveTo>
                  <a:pt x="0" y="0"/>
                </a:moveTo>
                <a:lnTo>
                  <a:pt x="3955873" y="0"/>
                </a:lnTo>
                <a:lnTo>
                  <a:pt x="3955873" y="6386071"/>
                </a:lnTo>
                <a:lnTo>
                  <a:pt x="0" y="638607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3" id="13"/>
          <p:cNvSpPr txBox="true"/>
          <p:nvPr/>
        </p:nvSpPr>
        <p:spPr>
          <a:xfrm rot="0">
            <a:off x="6439810" y="2700450"/>
            <a:ext cx="5642766" cy="2261270"/>
          </a:xfrm>
          <a:prstGeom prst="rect">
            <a:avLst/>
          </a:prstGeom>
        </p:spPr>
        <p:txBody>
          <a:bodyPr anchor="t" rtlCol="false" tIns="0" lIns="0" bIns="0" rIns="0">
            <a:spAutoFit/>
          </a:bodyPr>
          <a:lstStyle/>
          <a:p>
            <a:pPr algn="ctr">
              <a:lnSpc>
                <a:spcPts val="14731"/>
              </a:lnSpc>
            </a:pPr>
            <a:r>
              <a:rPr lang="en-US" sz="10522">
                <a:solidFill>
                  <a:srgbClr val="0097B2"/>
                </a:solidFill>
                <a:latin typeface="Sifonn"/>
                <a:ea typeface="Sifonn"/>
                <a:cs typeface="Sifonn"/>
                <a:sym typeface="Sifonn"/>
              </a:rPr>
              <a:t>SCORE </a:t>
            </a:r>
          </a:p>
        </p:txBody>
      </p:sp>
      <p:sp>
        <p:nvSpPr>
          <p:cNvPr name="TextBox 14" id="14"/>
          <p:cNvSpPr txBox="true"/>
          <p:nvPr/>
        </p:nvSpPr>
        <p:spPr>
          <a:xfrm rot="0">
            <a:off x="6913024" y="4274503"/>
            <a:ext cx="4461951" cy="1566544"/>
          </a:xfrm>
          <a:prstGeom prst="rect">
            <a:avLst/>
          </a:prstGeom>
        </p:spPr>
        <p:txBody>
          <a:bodyPr anchor="t" rtlCol="false" tIns="0" lIns="0" bIns="0" rIns="0">
            <a:spAutoFit/>
          </a:bodyPr>
          <a:lstStyle/>
          <a:p>
            <a:pPr algn="ctr">
              <a:lnSpc>
                <a:spcPts val="12880"/>
              </a:lnSpc>
            </a:pPr>
            <a:r>
              <a:rPr lang="en-US" sz="9200">
                <a:solidFill>
                  <a:srgbClr val="0097B2"/>
                </a:solidFill>
                <a:latin typeface="Sifonn"/>
                <a:ea typeface="Sifonn"/>
                <a:cs typeface="Sifonn"/>
                <a:sym typeface="Sifonn"/>
              </a:rPr>
              <a:t>NEXUS</a:t>
            </a:r>
          </a:p>
        </p:txBody>
      </p:sp>
      <p:sp>
        <p:nvSpPr>
          <p:cNvPr name="TextBox 15" id="15"/>
          <p:cNvSpPr txBox="true"/>
          <p:nvPr/>
        </p:nvSpPr>
        <p:spPr>
          <a:xfrm rot="0">
            <a:off x="5733900" y="5832261"/>
            <a:ext cx="6348677" cy="1259870"/>
          </a:xfrm>
          <a:prstGeom prst="rect">
            <a:avLst/>
          </a:prstGeom>
        </p:spPr>
        <p:txBody>
          <a:bodyPr anchor="t" rtlCol="false" tIns="0" lIns="0" bIns="0" rIns="0">
            <a:spAutoFit/>
          </a:bodyPr>
          <a:lstStyle/>
          <a:p>
            <a:pPr algn="ctr">
              <a:lnSpc>
                <a:spcPts val="10358"/>
              </a:lnSpc>
            </a:pPr>
            <a:r>
              <a:rPr lang="en-US" sz="7398">
                <a:solidFill>
                  <a:srgbClr val="FF3131"/>
                </a:solidFill>
                <a:latin typeface="Fredoka"/>
                <a:ea typeface="Fredoka"/>
                <a:cs typeface="Fredoka"/>
                <a:sym typeface="Fredoka"/>
              </a:rPr>
              <a:t>Join US Now</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628164" y="1031267"/>
            <a:ext cx="9031673" cy="8227033"/>
          </a:xfrm>
          <a:custGeom>
            <a:avLst/>
            <a:gdLst/>
            <a:ahLst/>
            <a:cxnLst/>
            <a:rect r="r" b="b" t="t" l="l"/>
            <a:pathLst>
              <a:path h="8227033" w="9031673">
                <a:moveTo>
                  <a:pt x="0" y="0"/>
                </a:moveTo>
                <a:lnTo>
                  <a:pt x="9031672" y="0"/>
                </a:lnTo>
                <a:lnTo>
                  <a:pt x="9031672"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137711" y="462851"/>
            <a:ext cx="11387117" cy="10372628"/>
          </a:xfrm>
          <a:custGeom>
            <a:avLst/>
            <a:gdLst/>
            <a:ahLst/>
            <a:cxnLst/>
            <a:rect r="r" b="b" t="t" l="l"/>
            <a:pathLst>
              <a:path h="10372628" w="11387117">
                <a:moveTo>
                  <a:pt x="0" y="0"/>
                </a:moveTo>
                <a:lnTo>
                  <a:pt x="11387117" y="0"/>
                </a:lnTo>
                <a:lnTo>
                  <a:pt x="11387117" y="10372628"/>
                </a:lnTo>
                <a:lnTo>
                  <a:pt x="0" y="10372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687372" y="1214651"/>
            <a:ext cx="6287796" cy="2799277"/>
          </a:xfrm>
          <a:prstGeom prst="rect">
            <a:avLst/>
          </a:prstGeom>
        </p:spPr>
        <p:txBody>
          <a:bodyPr anchor="t" rtlCol="false" tIns="0" lIns="0" bIns="0" rIns="0">
            <a:spAutoFit/>
          </a:bodyPr>
          <a:lstStyle/>
          <a:p>
            <a:pPr algn="ctr">
              <a:lnSpc>
                <a:spcPts val="7451"/>
              </a:lnSpc>
            </a:pPr>
            <a:r>
              <a:rPr lang="en-US" sz="5322">
                <a:solidFill>
                  <a:srgbClr val="504EA2"/>
                </a:solidFill>
                <a:latin typeface="Sifonn"/>
                <a:ea typeface="Sifonn"/>
                <a:cs typeface="Sifonn"/>
                <a:sym typeface="Sifonn"/>
              </a:rPr>
              <a:t>ABSTRACT</a:t>
            </a:r>
          </a:p>
          <a:p>
            <a:pPr algn="ctr">
              <a:lnSpc>
                <a:spcPts val="7451"/>
              </a:lnSpc>
            </a:pPr>
          </a:p>
          <a:p>
            <a:pPr algn="ctr">
              <a:lnSpc>
                <a:spcPts val="7451"/>
              </a:lnSpc>
            </a:pPr>
          </a:p>
        </p:txBody>
      </p:sp>
      <p:sp>
        <p:nvSpPr>
          <p:cNvPr name="TextBox 5" id="5"/>
          <p:cNvSpPr txBox="true"/>
          <p:nvPr/>
        </p:nvSpPr>
        <p:spPr>
          <a:xfrm rot="0">
            <a:off x="4290026" y="2250313"/>
            <a:ext cx="9031673" cy="7224235"/>
          </a:xfrm>
          <a:prstGeom prst="rect">
            <a:avLst/>
          </a:prstGeom>
        </p:spPr>
        <p:txBody>
          <a:bodyPr anchor="t" rtlCol="false" tIns="0" lIns="0" bIns="0" rIns="0">
            <a:spAutoFit/>
          </a:bodyPr>
          <a:lstStyle/>
          <a:p>
            <a:pPr algn="ctr">
              <a:lnSpc>
                <a:spcPts val="4762"/>
              </a:lnSpc>
            </a:pPr>
            <a:r>
              <a:rPr lang="en-US" sz="3401">
                <a:solidFill>
                  <a:srgbClr val="0A0D0E"/>
                </a:solidFill>
                <a:latin typeface="Fredoka"/>
                <a:ea typeface="Fredoka"/>
                <a:cs typeface="Fredoka"/>
                <a:sym typeface="Fredoka"/>
              </a:rPr>
              <a:t>The project is a desktop-based scoring application developed using Java Swing. It is designed to record and display cricket runs such as sixes, fours, singles, and other scoring events in real time. The application provides an interactive GUI that allows the user to update scores with a single click. This system aims to simplify manual scorekeeping by offering an automated and user-friendly digital solution. Future extensions can include overs, wickets, and player statistics.</a:t>
            </a:r>
          </a:p>
        </p:txBody>
      </p:sp>
      <p:sp>
        <p:nvSpPr>
          <p:cNvPr name="Freeform 6" id="6"/>
          <p:cNvSpPr/>
          <p:nvPr/>
        </p:nvSpPr>
        <p:spPr>
          <a:xfrm flipH="false" flipV="false" rot="0">
            <a:off x="14279851" y="5275966"/>
            <a:ext cx="6766810" cy="6742204"/>
          </a:xfrm>
          <a:custGeom>
            <a:avLst/>
            <a:gdLst/>
            <a:ahLst/>
            <a:cxnLst/>
            <a:rect r="r" b="b" t="t" l="l"/>
            <a:pathLst>
              <a:path h="6742204" w="6766810">
                <a:moveTo>
                  <a:pt x="0" y="0"/>
                </a:moveTo>
                <a:lnTo>
                  <a:pt x="6766811" y="0"/>
                </a:lnTo>
                <a:lnTo>
                  <a:pt x="6766811" y="6742204"/>
                </a:lnTo>
                <a:lnTo>
                  <a:pt x="0" y="6742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92309" y="-1186361"/>
            <a:ext cx="5520473" cy="5500398"/>
          </a:xfrm>
          <a:custGeom>
            <a:avLst/>
            <a:gdLst/>
            <a:ahLst/>
            <a:cxnLst/>
            <a:rect r="r" b="b" t="t" l="l"/>
            <a:pathLst>
              <a:path h="5500398" w="5520473">
                <a:moveTo>
                  <a:pt x="0" y="0"/>
                </a:moveTo>
                <a:lnTo>
                  <a:pt x="5520473" y="0"/>
                </a:lnTo>
                <a:lnTo>
                  <a:pt x="5520473" y="5500399"/>
                </a:lnTo>
                <a:lnTo>
                  <a:pt x="0" y="55003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892309" y="6699896"/>
            <a:ext cx="4844198" cy="4597584"/>
          </a:xfrm>
          <a:custGeom>
            <a:avLst/>
            <a:gdLst/>
            <a:ahLst/>
            <a:cxnLst/>
            <a:rect r="r" b="b" t="t" l="l"/>
            <a:pathLst>
              <a:path h="4597584" w="4844198">
                <a:moveTo>
                  <a:pt x="0" y="0"/>
                </a:moveTo>
                <a:lnTo>
                  <a:pt x="4844198" y="0"/>
                </a:lnTo>
                <a:lnTo>
                  <a:pt x="4844198" y="4597583"/>
                </a:lnTo>
                <a:lnTo>
                  <a:pt x="0" y="459758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4524828" y="-1678149"/>
            <a:ext cx="4318254" cy="4721749"/>
          </a:xfrm>
          <a:custGeom>
            <a:avLst/>
            <a:gdLst/>
            <a:ahLst/>
            <a:cxnLst/>
            <a:rect r="r" b="b" t="t" l="l"/>
            <a:pathLst>
              <a:path h="4721749" w="4318254">
                <a:moveTo>
                  <a:pt x="0" y="0"/>
                </a:moveTo>
                <a:lnTo>
                  <a:pt x="4318255" y="0"/>
                </a:lnTo>
                <a:lnTo>
                  <a:pt x="4318255" y="4721750"/>
                </a:lnTo>
                <a:lnTo>
                  <a:pt x="0" y="472175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394111" y="4660927"/>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6185527">
            <a:off x="12679172" y="-685924"/>
            <a:ext cx="1046352" cy="1969176"/>
          </a:xfrm>
          <a:custGeom>
            <a:avLst/>
            <a:gdLst/>
            <a:ahLst/>
            <a:cxnLst/>
            <a:rect r="r" b="b" t="t" l="l"/>
            <a:pathLst>
              <a:path h="1969176" w="1046352">
                <a:moveTo>
                  <a:pt x="0" y="0"/>
                </a:moveTo>
                <a:lnTo>
                  <a:pt x="1046351" y="0"/>
                </a:lnTo>
                <a:lnTo>
                  <a:pt x="1046351" y="1969176"/>
                </a:lnTo>
                <a:lnTo>
                  <a:pt x="0" y="196917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6185527">
            <a:off x="12552895" y="-506081"/>
            <a:ext cx="1046352" cy="1969176"/>
          </a:xfrm>
          <a:custGeom>
            <a:avLst/>
            <a:gdLst/>
            <a:ahLst/>
            <a:cxnLst/>
            <a:rect r="r" b="b" t="t" l="l"/>
            <a:pathLst>
              <a:path h="1969176" w="1046352">
                <a:moveTo>
                  <a:pt x="0" y="0"/>
                </a:moveTo>
                <a:lnTo>
                  <a:pt x="1046351" y="0"/>
                </a:lnTo>
                <a:lnTo>
                  <a:pt x="1046351" y="1969175"/>
                </a:lnTo>
                <a:lnTo>
                  <a:pt x="0" y="19691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55497" y="1368560"/>
            <a:ext cx="11377006" cy="7889740"/>
          </a:xfrm>
          <a:custGeom>
            <a:avLst/>
            <a:gdLst/>
            <a:ahLst/>
            <a:cxnLst/>
            <a:rect r="r" b="b" t="t" l="l"/>
            <a:pathLst>
              <a:path h="7889740" w="11377006">
                <a:moveTo>
                  <a:pt x="0" y="0"/>
                </a:moveTo>
                <a:lnTo>
                  <a:pt x="11377006" y="0"/>
                </a:lnTo>
                <a:lnTo>
                  <a:pt x="11377006" y="7889740"/>
                </a:lnTo>
                <a:lnTo>
                  <a:pt x="0" y="78897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339626" y="478506"/>
            <a:ext cx="14309472" cy="9923351"/>
          </a:xfrm>
          <a:custGeom>
            <a:avLst/>
            <a:gdLst/>
            <a:ahLst/>
            <a:cxnLst/>
            <a:rect r="r" b="b" t="t" l="l"/>
            <a:pathLst>
              <a:path h="9923351" w="14309472">
                <a:moveTo>
                  <a:pt x="0" y="0"/>
                </a:moveTo>
                <a:lnTo>
                  <a:pt x="14309472" y="0"/>
                </a:lnTo>
                <a:lnTo>
                  <a:pt x="14309472" y="9923351"/>
                </a:lnTo>
                <a:lnTo>
                  <a:pt x="0" y="99233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141062" y="4083352"/>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3106859" y="3491584"/>
            <a:ext cx="4530996" cy="453099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0" t="-33507" r="0" b="-33507"/>
              </a:stretch>
            </a:blipFill>
            <a:ln w="38100" cap="sq">
              <a:solidFill>
                <a:srgbClr val="E3C1A0"/>
              </a:solidFill>
              <a:prstDash val="solid"/>
              <a:miter/>
            </a:ln>
          </p:spPr>
        </p:sp>
      </p:grpSp>
      <p:sp>
        <p:nvSpPr>
          <p:cNvPr name="Freeform 8" id="8"/>
          <p:cNvSpPr/>
          <p:nvPr/>
        </p:nvSpPr>
        <p:spPr>
          <a:xfrm flipH="false" flipV="false" rot="2011003">
            <a:off x="21487" y="6696285"/>
            <a:ext cx="2014426" cy="4485565"/>
          </a:xfrm>
          <a:custGeom>
            <a:avLst/>
            <a:gdLst/>
            <a:ahLst/>
            <a:cxnLst/>
            <a:rect r="r" b="b" t="t" l="l"/>
            <a:pathLst>
              <a:path h="4485565" w="2014426">
                <a:moveTo>
                  <a:pt x="0" y="0"/>
                </a:moveTo>
                <a:lnTo>
                  <a:pt x="2014426" y="0"/>
                </a:lnTo>
                <a:lnTo>
                  <a:pt x="2014426" y="4485565"/>
                </a:lnTo>
                <a:lnTo>
                  <a:pt x="0" y="448556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1349793">
            <a:off x="15789194" y="-688840"/>
            <a:ext cx="2940212" cy="4114800"/>
          </a:xfrm>
          <a:custGeom>
            <a:avLst/>
            <a:gdLst/>
            <a:ahLst/>
            <a:cxnLst/>
            <a:rect r="r" b="b" t="t" l="l"/>
            <a:pathLst>
              <a:path h="4114800" w="2940212">
                <a:moveTo>
                  <a:pt x="0" y="0"/>
                </a:moveTo>
                <a:lnTo>
                  <a:pt x="2940212" y="0"/>
                </a:lnTo>
                <a:lnTo>
                  <a:pt x="2940212"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16413653" y="8238181"/>
            <a:ext cx="5625225" cy="5604770"/>
          </a:xfrm>
          <a:custGeom>
            <a:avLst/>
            <a:gdLst/>
            <a:ahLst/>
            <a:cxnLst/>
            <a:rect r="r" b="b" t="t" l="l"/>
            <a:pathLst>
              <a:path h="5604770" w="5625225">
                <a:moveTo>
                  <a:pt x="0" y="0"/>
                </a:moveTo>
                <a:lnTo>
                  <a:pt x="5625225" y="0"/>
                </a:lnTo>
                <a:lnTo>
                  <a:pt x="5625225" y="5604770"/>
                </a:lnTo>
                <a:lnTo>
                  <a:pt x="0" y="560477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1137725">
            <a:off x="-367935" y="-643198"/>
            <a:ext cx="3087323" cy="4342782"/>
          </a:xfrm>
          <a:custGeom>
            <a:avLst/>
            <a:gdLst/>
            <a:ahLst/>
            <a:cxnLst/>
            <a:rect r="r" b="b" t="t" l="l"/>
            <a:pathLst>
              <a:path h="4342782" w="3087323">
                <a:moveTo>
                  <a:pt x="0" y="0"/>
                </a:moveTo>
                <a:lnTo>
                  <a:pt x="3087324" y="0"/>
                </a:lnTo>
                <a:lnTo>
                  <a:pt x="3087324" y="4342782"/>
                </a:lnTo>
                <a:lnTo>
                  <a:pt x="0" y="434278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2" id="12"/>
          <p:cNvGrpSpPr/>
          <p:nvPr/>
        </p:nvGrpSpPr>
        <p:grpSpPr>
          <a:xfrm rot="0">
            <a:off x="8045205" y="3606819"/>
            <a:ext cx="4440862" cy="444086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9"/>
              <a:stretch>
                <a:fillRect l="-5616" t="-48311" r="-5616" b="0"/>
              </a:stretch>
            </a:blipFill>
            <a:ln w="38100" cap="sq">
              <a:solidFill>
                <a:srgbClr val="E3C1A0"/>
              </a:solidFill>
              <a:prstDash val="solid"/>
              <a:miter/>
            </a:ln>
          </p:spPr>
        </p:sp>
      </p:grpSp>
      <p:grpSp>
        <p:nvGrpSpPr>
          <p:cNvPr name="Group 14" id="14"/>
          <p:cNvGrpSpPr/>
          <p:nvPr/>
        </p:nvGrpSpPr>
        <p:grpSpPr>
          <a:xfrm rot="0">
            <a:off x="12893416" y="3606819"/>
            <a:ext cx="4440862" cy="444086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0"/>
              <a:stretch>
                <a:fillRect l="0" t="-16666" r="0" b="-16666"/>
              </a:stretch>
            </a:blipFill>
            <a:ln w="38100" cap="sq">
              <a:solidFill>
                <a:srgbClr val="E3C1A0"/>
              </a:solidFill>
              <a:prstDash val="solid"/>
              <a:miter/>
            </a:ln>
          </p:spPr>
        </p:sp>
      </p:grpSp>
      <p:sp>
        <p:nvSpPr>
          <p:cNvPr name="TextBox 16" id="16"/>
          <p:cNvSpPr txBox="true"/>
          <p:nvPr/>
        </p:nvSpPr>
        <p:spPr>
          <a:xfrm rot="0">
            <a:off x="3771251" y="826479"/>
            <a:ext cx="10745497" cy="969861"/>
          </a:xfrm>
          <a:prstGeom prst="rect">
            <a:avLst/>
          </a:prstGeom>
        </p:spPr>
        <p:txBody>
          <a:bodyPr anchor="t" rtlCol="false" tIns="0" lIns="0" bIns="0" rIns="0">
            <a:spAutoFit/>
          </a:bodyPr>
          <a:lstStyle/>
          <a:p>
            <a:pPr algn="ctr">
              <a:lnSpc>
                <a:spcPts val="7942"/>
              </a:lnSpc>
            </a:pPr>
            <a:r>
              <a:rPr lang="en-US" sz="5673">
                <a:solidFill>
                  <a:srgbClr val="777698"/>
                </a:solidFill>
                <a:latin typeface="Sifonn"/>
                <a:ea typeface="Sifonn"/>
                <a:cs typeface="Sifonn"/>
                <a:sym typeface="Sifonn"/>
              </a:rPr>
              <a:t>TEAMMATES</a:t>
            </a:r>
          </a:p>
        </p:txBody>
      </p:sp>
      <p:sp>
        <p:nvSpPr>
          <p:cNvPr name="TextBox 17" id="17"/>
          <p:cNvSpPr txBox="true"/>
          <p:nvPr/>
        </p:nvSpPr>
        <p:spPr>
          <a:xfrm rot="0">
            <a:off x="3679288" y="8171506"/>
            <a:ext cx="3386138" cy="580390"/>
          </a:xfrm>
          <a:prstGeom prst="rect">
            <a:avLst/>
          </a:prstGeom>
        </p:spPr>
        <p:txBody>
          <a:bodyPr anchor="t" rtlCol="false" tIns="0" lIns="0" bIns="0" rIns="0">
            <a:spAutoFit/>
          </a:bodyPr>
          <a:lstStyle/>
          <a:p>
            <a:pPr algn="ctr">
              <a:lnSpc>
                <a:spcPts val="4759"/>
              </a:lnSpc>
            </a:pPr>
            <a:r>
              <a:rPr lang="en-US" sz="3399" b="true">
                <a:solidFill>
                  <a:srgbClr val="0097B2"/>
                </a:solidFill>
                <a:latin typeface="Canva Sans Bold"/>
                <a:ea typeface="Canva Sans Bold"/>
                <a:cs typeface="Canva Sans Bold"/>
                <a:sym typeface="Canva Sans Bold"/>
              </a:rPr>
              <a:t>ARIJIT MANDAL</a:t>
            </a:r>
          </a:p>
        </p:txBody>
      </p:sp>
      <p:sp>
        <p:nvSpPr>
          <p:cNvPr name="TextBox 18" id="18"/>
          <p:cNvSpPr txBox="true"/>
          <p:nvPr/>
        </p:nvSpPr>
        <p:spPr>
          <a:xfrm rot="0">
            <a:off x="8926911" y="8171506"/>
            <a:ext cx="2451050" cy="580390"/>
          </a:xfrm>
          <a:prstGeom prst="rect">
            <a:avLst/>
          </a:prstGeom>
        </p:spPr>
        <p:txBody>
          <a:bodyPr anchor="t" rtlCol="false" tIns="0" lIns="0" bIns="0" rIns="0">
            <a:spAutoFit/>
          </a:bodyPr>
          <a:lstStyle/>
          <a:p>
            <a:pPr algn="ctr">
              <a:lnSpc>
                <a:spcPts val="4759"/>
              </a:lnSpc>
            </a:pPr>
            <a:r>
              <a:rPr lang="en-US" sz="3399" b="true">
                <a:solidFill>
                  <a:srgbClr val="0097B2"/>
                </a:solidFill>
                <a:latin typeface="Canva Sans Bold"/>
                <a:ea typeface="Canva Sans Bold"/>
                <a:cs typeface="Canva Sans Bold"/>
                <a:sym typeface="Canva Sans Bold"/>
              </a:rPr>
              <a:t>SAI PARATE</a:t>
            </a:r>
          </a:p>
        </p:txBody>
      </p:sp>
      <p:sp>
        <p:nvSpPr>
          <p:cNvPr name="TextBox 19" id="19"/>
          <p:cNvSpPr txBox="true"/>
          <p:nvPr/>
        </p:nvSpPr>
        <p:spPr>
          <a:xfrm rot="0">
            <a:off x="13134284" y="8171506"/>
            <a:ext cx="3919984" cy="580390"/>
          </a:xfrm>
          <a:prstGeom prst="rect">
            <a:avLst/>
          </a:prstGeom>
        </p:spPr>
        <p:txBody>
          <a:bodyPr anchor="t" rtlCol="false" tIns="0" lIns="0" bIns="0" rIns="0">
            <a:spAutoFit/>
          </a:bodyPr>
          <a:lstStyle/>
          <a:p>
            <a:pPr algn="ctr">
              <a:lnSpc>
                <a:spcPts val="4759"/>
              </a:lnSpc>
            </a:pPr>
            <a:r>
              <a:rPr lang="en-US" sz="3399" b="true">
                <a:solidFill>
                  <a:srgbClr val="0097B2"/>
                </a:solidFill>
                <a:latin typeface="Canva Sans Bold"/>
                <a:ea typeface="Canva Sans Bold"/>
                <a:cs typeface="Canva Sans Bold"/>
                <a:sym typeface="Canva Sans Bold"/>
              </a:rPr>
              <a:t>PARTH  CHHABRA </a:t>
            </a:r>
          </a:p>
        </p:txBody>
      </p:sp>
      <p:sp>
        <p:nvSpPr>
          <p:cNvPr name="TextBox 20" id="20"/>
          <p:cNvSpPr txBox="true"/>
          <p:nvPr/>
        </p:nvSpPr>
        <p:spPr>
          <a:xfrm rot="0">
            <a:off x="3401873" y="8934767"/>
            <a:ext cx="3940969" cy="580390"/>
          </a:xfrm>
          <a:prstGeom prst="rect">
            <a:avLst/>
          </a:prstGeom>
        </p:spPr>
        <p:txBody>
          <a:bodyPr anchor="t" rtlCol="false" tIns="0" lIns="0" bIns="0" rIns="0">
            <a:spAutoFit/>
          </a:bodyPr>
          <a:lstStyle/>
          <a:p>
            <a:pPr algn="ctr">
              <a:lnSpc>
                <a:spcPts val="4759"/>
              </a:lnSpc>
            </a:pPr>
            <a:r>
              <a:rPr lang="en-US" sz="3399" b="true">
                <a:solidFill>
                  <a:srgbClr val="0097B2"/>
                </a:solidFill>
                <a:latin typeface="Canva Sans Bold"/>
                <a:ea typeface="Canva Sans Bold"/>
                <a:cs typeface="Canva Sans Bold"/>
                <a:sym typeface="Canva Sans Bold"/>
              </a:rPr>
              <a:t>RA2411056010253</a:t>
            </a:r>
          </a:p>
        </p:txBody>
      </p:sp>
      <p:sp>
        <p:nvSpPr>
          <p:cNvPr name="TextBox 21" id="21"/>
          <p:cNvSpPr txBox="true"/>
          <p:nvPr/>
        </p:nvSpPr>
        <p:spPr>
          <a:xfrm rot="0">
            <a:off x="8174957" y="8872393"/>
            <a:ext cx="3954959" cy="580390"/>
          </a:xfrm>
          <a:prstGeom prst="rect">
            <a:avLst/>
          </a:prstGeom>
        </p:spPr>
        <p:txBody>
          <a:bodyPr anchor="t" rtlCol="false" tIns="0" lIns="0" bIns="0" rIns="0">
            <a:spAutoFit/>
          </a:bodyPr>
          <a:lstStyle/>
          <a:p>
            <a:pPr algn="ctr">
              <a:lnSpc>
                <a:spcPts val="4759"/>
              </a:lnSpc>
            </a:pPr>
            <a:r>
              <a:rPr lang="en-US" sz="3399" b="true">
                <a:solidFill>
                  <a:srgbClr val="0097B2"/>
                </a:solidFill>
                <a:latin typeface="Canva Sans Bold"/>
                <a:ea typeface="Canva Sans Bold"/>
                <a:cs typeface="Canva Sans Bold"/>
                <a:sym typeface="Canva Sans Bold"/>
              </a:rPr>
              <a:t>RA2411056010288</a:t>
            </a:r>
          </a:p>
        </p:txBody>
      </p:sp>
      <p:sp>
        <p:nvSpPr>
          <p:cNvPr name="TextBox 22" id="22"/>
          <p:cNvSpPr txBox="true"/>
          <p:nvPr/>
        </p:nvSpPr>
        <p:spPr>
          <a:xfrm rot="0">
            <a:off x="13134284" y="8872393"/>
            <a:ext cx="3959126" cy="580390"/>
          </a:xfrm>
          <a:prstGeom prst="rect">
            <a:avLst/>
          </a:prstGeom>
        </p:spPr>
        <p:txBody>
          <a:bodyPr anchor="t" rtlCol="false" tIns="0" lIns="0" bIns="0" rIns="0">
            <a:spAutoFit/>
          </a:bodyPr>
          <a:lstStyle/>
          <a:p>
            <a:pPr algn="ctr">
              <a:lnSpc>
                <a:spcPts val="4759"/>
              </a:lnSpc>
            </a:pPr>
            <a:r>
              <a:rPr lang="en-US" sz="3399" b="true">
                <a:solidFill>
                  <a:srgbClr val="0097B2"/>
                </a:solidFill>
                <a:latin typeface="Canva Sans Bold"/>
                <a:ea typeface="Canva Sans Bold"/>
                <a:cs typeface="Canva Sans Bold"/>
                <a:sym typeface="Canva Sans Bold"/>
              </a:rPr>
              <a:t>RA2411056010284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43859" y="670100"/>
            <a:ext cx="11232959" cy="10232204"/>
          </a:xfrm>
          <a:custGeom>
            <a:avLst/>
            <a:gdLst/>
            <a:ahLst/>
            <a:cxnLst/>
            <a:rect r="r" b="b" t="t" l="l"/>
            <a:pathLst>
              <a:path h="10232204" w="11232959">
                <a:moveTo>
                  <a:pt x="0" y="0"/>
                </a:moveTo>
                <a:lnTo>
                  <a:pt x="11232959" y="0"/>
                </a:lnTo>
                <a:lnTo>
                  <a:pt x="11232959" y="10232204"/>
                </a:lnTo>
                <a:lnTo>
                  <a:pt x="0" y="102322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787967" y="3048823"/>
            <a:ext cx="9566780" cy="5080545"/>
          </a:xfrm>
          <a:prstGeom prst="rect">
            <a:avLst/>
          </a:prstGeom>
        </p:spPr>
        <p:txBody>
          <a:bodyPr anchor="t" rtlCol="false" tIns="0" lIns="0" bIns="0" rIns="0">
            <a:spAutoFit/>
          </a:bodyPr>
          <a:lstStyle/>
          <a:p>
            <a:pPr algn="ctr">
              <a:lnSpc>
                <a:spcPts val="5044"/>
              </a:lnSpc>
            </a:pPr>
            <a:r>
              <a:rPr lang="en-US" sz="3603">
                <a:solidFill>
                  <a:srgbClr val="0097B2"/>
                </a:solidFill>
                <a:latin typeface="Fredoka"/>
                <a:ea typeface="Fredoka"/>
                <a:cs typeface="Fredoka"/>
                <a:sym typeface="Fredoka"/>
              </a:rPr>
              <a:t>Why are you making this project?</a:t>
            </a:r>
          </a:p>
          <a:p>
            <a:pPr algn="ctr" marL="778006" indent="-389003" lvl="1">
              <a:lnSpc>
                <a:spcPts val="5044"/>
              </a:lnSpc>
              <a:buFont typeface="Arial"/>
              <a:buChar char="•"/>
            </a:pPr>
            <a:r>
              <a:rPr lang="en-US" sz="3603">
                <a:solidFill>
                  <a:srgbClr val="0A0D0E"/>
                </a:solidFill>
                <a:latin typeface="Fredoka"/>
                <a:ea typeface="Fredoka"/>
                <a:cs typeface="Fredoka"/>
                <a:sym typeface="Fredoka"/>
              </a:rPr>
              <a:t>Manual scorekeeping is prone to errors.</a:t>
            </a:r>
          </a:p>
          <a:p>
            <a:pPr algn="ctr" marL="778006" indent="-389003" lvl="1">
              <a:lnSpc>
                <a:spcPts val="5044"/>
              </a:lnSpc>
              <a:buFont typeface="Arial"/>
              <a:buChar char="•"/>
            </a:pPr>
            <a:r>
              <a:rPr lang="en-US" sz="3603">
                <a:solidFill>
                  <a:srgbClr val="0A0D0E"/>
                </a:solidFill>
                <a:latin typeface="Fredoka"/>
                <a:ea typeface="Fredoka"/>
                <a:cs typeface="Fredoka"/>
                <a:sym typeface="Fredoka"/>
              </a:rPr>
              <a:t>Digital scoring makes tracking easier.</a:t>
            </a:r>
          </a:p>
          <a:p>
            <a:pPr algn="ctr" marL="778006" indent="-389003" lvl="1">
              <a:lnSpc>
                <a:spcPts val="5044"/>
              </a:lnSpc>
              <a:buFont typeface="Arial"/>
              <a:buChar char="•"/>
            </a:pPr>
            <a:r>
              <a:rPr lang="en-US" sz="3603">
                <a:solidFill>
                  <a:srgbClr val="0A0D0E"/>
                </a:solidFill>
                <a:latin typeface="Fredoka"/>
                <a:ea typeface="Fredoka"/>
                <a:cs typeface="Fredoka"/>
                <a:sym typeface="Fredoka"/>
              </a:rPr>
              <a:t>Simple way to demonstrate Java OOPs + Swing GUI in a practical project.</a:t>
            </a:r>
          </a:p>
          <a:p>
            <a:pPr algn="ctr" marL="778006" indent="-389003" lvl="1">
              <a:lnSpc>
                <a:spcPts val="5044"/>
              </a:lnSpc>
              <a:buFont typeface="Arial"/>
              <a:buChar char="•"/>
            </a:pPr>
            <a:r>
              <a:rPr lang="en-US" sz="3603">
                <a:solidFill>
                  <a:srgbClr val="0A0D0E"/>
                </a:solidFill>
                <a:latin typeface="Fredoka"/>
                <a:ea typeface="Fredoka"/>
                <a:cs typeface="Fredoka"/>
                <a:sym typeface="Fredoka"/>
              </a:rPr>
              <a:t>Can be used in small matches, practice sessions, or learning environments.</a:t>
            </a:r>
          </a:p>
          <a:p>
            <a:pPr algn="ctr">
              <a:lnSpc>
                <a:spcPts val="5044"/>
              </a:lnSpc>
            </a:pPr>
          </a:p>
        </p:txBody>
      </p:sp>
      <p:sp>
        <p:nvSpPr>
          <p:cNvPr name="Freeform 5" id="5"/>
          <p:cNvSpPr/>
          <p:nvPr/>
        </p:nvSpPr>
        <p:spPr>
          <a:xfrm flipH="false" flipV="false" rot="439018">
            <a:off x="-600996" y="6478942"/>
            <a:ext cx="5108668" cy="4114800"/>
          </a:xfrm>
          <a:custGeom>
            <a:avLst/>
            <a:gdLst/>
            <a:ahLst/>
            <a:cxnLst/>
            <a:rect r="r" b="b" t="t" l="l"/>
            <a:pathLst>
              <a:path h="4114800" w="5108668">
                <a:moveTo>
                  <a:pt x="0" y="0"/>
                </a:moveTo>
                <a:lnTo>
                  <a:pt x="5108669" y="0"/>
                </a:lnTo>
                <a:lnTo>
                  <a:pt x="510866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539346" y="6170380"/>
            <a:ext cx="5520034" cy="5499962"/>
          </a:xfrm>
          <a:custGeom>
            <a:avLst/>
            <a:gdLst/>
            <a:ahLst/>
            <a:cxnLst/>
            <a:rect r="r" b="b" t="t" l="l"/>
            <a:pathLst>
              <a:path h="5499962" w="5520034">
                <a:moveTo>
                  <a:pt x="0" y="0"/>
                </a:moveTo>
                <a:lnTo>
                  <a:pt x="5520034" y="0"/>
                </a:lnTo>
                <a:lnTo>
                  <a:pt x="5520034" y="5499962"/>
                </a:lnTo>
                <a:lnTo>
                  <a:pt x="0" y="54999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126256">
            <a:off x="346826" y="-532474"/>
            <a:ext cx="1884583" cy="4866295"/>
          </a:xfrm>
          <a:custGeom>
            <a:avLst/>
            <a:gdLst/>
            <a:ahLst/>
            <a:cxnLst/>
            <a:rect r="r" b="b" t="t" l="l"/>
            <a:pathLst>
              <a:path h="4866295" w="1884583">
                <a:moveTo>
                  <a:pt x="0" y="0"/>
                </a:moveTo>
                <a:lnTo>
                  <a:pt x="1884583" y="0"/>
                </a:lnTo>
                <a:lnTo>
                  <a:pt x="1884583" y="4866295"/>
                </a:lnTo>
                <a:lnTo>
                  <a:pt x="0" y="48662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7543091">
            <a:off x="15637498" y="-1028700"/>
            <a:ext cx="2581102" cy="4114800"/>
          </a:xfrm>
          <a:custGeom>
            <a:avLst/>
            <a:gdLst/>
            <a:ahLst/>
            <a:cxnLst/>
            <a:rect r="r" b="b" t="t" l="l"/>
            <a:pathLst>
              <a:path h="4114800" w="2581102">
                <a:moveTo>
                  <a:pt x="0" y="0"/>
                </a:moveTo>
                <a:lnTo>
                  <a:pt x="2581102" y="0"/>
                </a:lnTo>
                <a:lnTo>
                  <a:pt x="2581102"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5505390" y="1805423"/>
            <a:ext cx="5670200" cy="821055"/>
          </a:xfrm>
          <a:prstGeom prst="rect">
            <a:avLst/>
          </a:prstGeom>
        </p:spPr>
        <p:txBody>
          <a:bodyPr anchor="t" rtlCol="false" tIns="0" lIns="0" bIns="0" rIns="0">
            <a:spAutoFit/>
          </a:bodyPr>
          <a:lstStyle/>
          <a:p>
            <a:pPr algn="ctr">
              <a:lnSpc>
                <a:spcPts val="6719"/>
              </a:lnSpc>
            </a:pPr>
            <a:r>
              <a:rPr lang="en-US" sz="4800">
                <a:solidFill>
                  <a:srgbClr val="777698"/>
                </a:solidFill>
                <a:latin typeface="Sifonn"/>
                <a:ea typeface="Sifonn"/>
                <a:cs typeface="Sifonn"/>
                <a:sym typeface="Sifonn"/>
              </a:rPr>
              <a:t>MOTIVATION</a:t>
            </a:r>
          </a:p>
        </p:txBody>
      </p:sp>
      <p:sp>
        <p:nvSpPr>
          <p:cNvPr name="Freeform 10" id="10"/>
          <p:cNvSpPr/>
          <p:nvPr/>
        </p:nvSpPr>
        <p:spPr>
          <a:xfrm flipH="false" flipV="false" rot="6185527">
            <a:off x="12831572" y="-533524"/>
            <a:ext cx="1046352" cy="1969176"/>
          </a:xfrm>
          <a:custGeom>
            <a:avLst/>
            <a:gdLst/>
            <a:ahLst/>
            <a:cxnLst/>
            <a:rect r="r" b="b" t="t" l="l"/>
            <a:pathLst>
              <a:path h="1969176" w="1046352">
                <a:moveTo>
                  <a:pt x="0" y="0"/>
                </a:moveTo>
                <a:lnTo>
                  <a:pt x="1046351" y="0"/>
                </a:lnTo>
                <a:lnTo>
                  <a:pt x="1046351" y="1969176"/>
                </a:lnTo>
                <a:lnTo>
                  <a:pt x="0" y="19691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2133447" y="3523728"/>
            <a:ext cx="947633" cy="1230078"/>
          </a:xfrm>
          <a:custGeom>
            <a:avLst/>
            <a:gdLst/>
            <a:ahLst/>
            <a:cxnLst/>
            <a:rect r="r" b="b" t="t" l="l"/>
            <a:pathLst>
              <a:path h="1230078" w="947633">
                <a:moveTo>
                  <a:pt x="0" y="0"/>
                </a:moveTo>
                <a:lnTo>
                  <a:pt x="947634" y="0"/>
                </a:lnTo>
                <a:lnTo>
                  <a:pt x="947634" y="1230078"/>
                </a:lnTo>
                <a:lnTo>
                  <a:pt x="0" y="123007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34921" y="0"/>
            <a:ext cx="13130568" cy="11960754"/>
          </a:xfrm>
          <a:custGeom>
            <a:avLst/>
            <a:gdLst/>
            <a:ahLst/>
            <a:cxnLst/>
            <a:rect r="r" b="b" t="t" l="l"/>
            <a:pathLst>
              <a:path h="11960754" w="13130568">
                <a:moveTo>
                  <a:pt x="0" y="0"/>
                </a:moveTo>
                <a:lnTo>
                  <a:pt x="13130568" y="0"/>
                </a:lnTo>
                <a:lnTo>
                  <a:pt x="13130568" y="11960754"/>
                </a:lnTo>
                <a:lnTo>
                  <a:pt x="0" y="119607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557497" y="2260812"/>
            <a:ext cx="11685703" cy="8026188"/>
          </a:xfrm>
          <a:prstGeom prst="rect">
            <a:avLst/>
          </a:prstGeom>
        </p:spPr>
        <p:txBody>
          <a:bodyPr anchor="t" rtlCol="false" tIns="0" lIns="0" bIns="0" rIns="0">
            <a:spAutoFit/>
          </a:bodyPr>
          <a:lstStyle/>
          <a:p>
            <a:pPr algn="l" marL="757456" indent="-378728" lvl="1">
              <a:lnSpc>
                <a:spcPts val="4911"/>
              </a:lnSpc>
              <a:buFont typeface="Arial"/>
              <a:buChar char="•"/>
            </a:pPr>
            <a:r>
              <a:rPr lang="en-US" sz="3508">
                <a:solidFill>
                  <a:srgbClr val="90BF7D"/>
                </a:solidFill>
                <a:latin typeface="Fredoka"/>
                <a:ea typeface="Fredoka"/>
                <a:cs typeface="Fredoka"/>
                <a:sym typeface="Fredoka"/>
              </a:rPr>
              <a:t>SDG 9 (Industry, Innovation, and Infrastructure): </a:t>
            </a:r>
            <a:r>
              <a:rPr lang="en-US" sz="3508">
                <a:solidFill>
                  <a:srgbClr val="0A0D0E"/>
                </a:solidFill>
                <a:latin typeface="Fredoka"/>
                <a:ea typeface="Fredoka"/>
                <a:cs typeface="Fredoka"/>
                <a:sym typeface="Fredoka"/>
              </a:rPr>
              <a:t>The project uses technology (Java Swing) to provide a digital solution for cricket scoring, replacing manual methods with innovation.</a:t>
            </a:r>
          </a:p>
          <a:p>
            <a:pPr algn="l" marL="757456" indent="-378728" lvl="1">
              <a:lnSpc>
                <a:spcPts val="4911"/>
              </a:lnSpc>
              <a:buFont typeface="Arial"/>
              <a:buChar char="•"/>
            </a:pPr>
            <a:r>
              <a:rPr lang="en-US" sz="3508">
                <a:solidFill>
                  <a:srgbClr val="90BF7D"/>
                </a:solidFill>
                <a:latin typeface="Fredoka"/>
                <a:ea typeface="Fredoka"/>
                <a:cs typeface="Fredoka"/>
                <a:sym typeface="Fredoka"/>
              </a:rPr>
              <a:t>SDG 4 (Quality Education):</a:t>
            </a:r>
            <a:r>
              <a:rPr lang="en-US" sz="3508">
                <a:solidFill>
                  <a:srgbClr val="0A0D0E"/>
                </a:solidFill>
                <a:latin typeface="Fredoka"/>
                <a:ea typeface="Fredoka"/>
                <a:cs typeface="Fredoka"/>
                <a:sym typeface="Fredoka"/>
              </a:rPr>
              <a:t> It helps students learn OOPs and GUI development through a real-world application, making education more practical and skill-oriented.</a:t>
            </a:r>
          </a:p>
          <a:p>
            <a:pPr algn="l" marL="757456" indent="-378728" lvl="1">
              <a:lnSpc>
                <a:spcPts val="4911"/>
              </a:lnSpc>
              <a:buFont typeface="Arial"/>
              <a:buChar char="•"/>
            </a:pPr>
            <a:r>
              <a:rPr lang="en-US" sz="3508">
                <a:solidFill>
                  <a:srgbClr val="90BF7D"/>
                </a:solidFill>
                <a:latin typeface="Fredoka"/>
                <a:ea typeface="Fredoka"/>
                <a:cs typeface="Fredoka"/>
                <a:sym typeface="Fredoka"/>
              </a:rPr>
              <a:t>SDG 3 (Good Health and Well-Being):</a:t>
            </a:r>
            <a:r>
              <a:rPr lang="en-US" sz="3508">
                <a:solidFill>
                  <a:srgbClr val="0A0D0E"/>
                </a:solidFill>
                <a:latin typeface="Fredoka"/>
                <a:ea typeface="Fredoka"/>
                <a:cs typeface="Fredoka"/>
                <a:sym typeface="Fredoka"/>
              </a:rPr>
              <a:t> By supporting sports activities with fair and easy scorekeeping, it encourages participation in physical activities and teamwork.</a:t>
            </a:r>
          </a:p>
          <a:p>
            <a:pPr algn="l">
              <a:lnSpc>
                <a:spcPts val="4911"/>
              </a:lnSpc>
            </a:pPr>
          </a:p>
        </p:txBody>
      </p:sp>
      <p:sp>
        <p:nvSpPr>
          <p:cNvPr name="TextBox 5" id="5"/>
          <p:cNvSpPr txBox="true"/>
          <p:nvPr/>
        </p:nvSpPr>
        <p:spPr>
          <a:xfrm rot="0">
            <a:off x="4647122" y="1077760"/>
            <a:ext cx="9506453" cy="1037605"/>
          </a:xfrm>
          <a:prstGeom prst="rect">
            <a:avLst/>
          </a:prstGeom>
        </p:spPr>
        <p:txBody>
          <a:bodyPr anchor="t" rtlCol="false" tIns="0" lIns="0" bIns="0" rIns="0">
            <a:spAutoFit/>
          </a:bodyPr>
          <a:lstStyle/>
          <a:p>
            <a:pPr algn="ctr">
              <a:lnSpc>
                <a:spcPts val="8367"/>
              </a:lnSpc>
            </a:pPr>
            <a:r>
              <a:rPr lang="en-US" sz="5976">
                <a:solidFill>
                  <a:srgbClr val="504EA2"/>
                </a:solidFill>
                <a:latin typeface="Sifonn"/>
                <a:ea typeface="Sifonn"/>
                <a:cs typeface="Sifonn"/>
                <a:sym typeface="Sifonn"/>
              </a:rPr>
              <a:t>Vision </a:t>
            </a:r>
          </a:p>
        </p:txBody>
      </p:sp>
      <p:sp>
        <p:nvSpPr>
          <p:cNvPr name="Freeform 6" id="6"/>
          <p:cNvSpPr/>
          <p:nvPr/>
        </p:nvSpPr>
        <p:spPr>
          <a:xfrm flipH="false" flipV="false" rot="0">
            <a:off x="-2608220" y="7860755"/>
            <a:ext cx="6612403" cy="3678900"/>
          </a:xfrm>
          <a:custGeom>
            <a:avLst/>
            <a:gdLst/>
            <a:ahLst/>
            <a:cxnLst/>
            <a:rect r="r" b="b" t="t" l="l"/>
            <a:pathLst>
              <a:path h="3678900" w="6612403">
                <a:moveTo>
                  <a:pt x="0" y="0"/>
                </a:moveTo>
                <a:lnTo>
                  <a:pt x="6612403" y="0"/>
                </a:lnTo>
                <a:lnTo>
                  <a:pt x="6612403" y="3678900"/>
                </a:lnTo>
                <a:lnTo>
                  <a:pt x="0" y="36789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61244">
            <a:off x="14288653" y="-607994"/>
            <a:ext cx="4815191" cy="4114800"/>
          </a:xfrm>
          <a:custGeom>
            <a:avLst/>
            <a:gdLst/>
            <a:ahLst/>
            <a:cxnLst/>
            <a:rect r="r" b="b" t="t" l="l"/>
            <a:pathLst>
              <a:path h="4114800" w="4815191">
                <a:moveTo>
                  <a:pt x="0" y="0"/>
                </a:moveTo>
                <a:lnTo>
                  <a:pt x="4815191" y="0"/>
                </a:lnTo>
                <a:lnTo>
                  <a:pt x="481519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5381455" y="6398160"/>
            <a:ext cx="3755690" cy="4114800"/>
          </a:xfrm>
          <a:custGeom>
            <a:avLst/>
            <a:gdLst/>
            <a:ahLst/>
            <a:cxnLst/>
            <a:rect r="r" b="b" t="t" l="l"/>
            <a:pathLst>
              <a:path h="4114800" w="3755690">
                <a:moveTo>
                  <a:pt x="0" y="0"/>
                </a:moveTo>
                <a:lnTo>
                  <a:pt x="3755690" y="0"/>
                </a:lnTo>
                <a:lnTo>
                  <a:pt x="375569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1320029">
            <a:off x="-706997" y="-586144"/>
            <a:ext cx="3471395" cy="4114800"/>
          </a:xfrm>
          <a:custGeom>
            <a:avLst/>
            <a:gdLst/>
            <a:ahLst/>
            <a:cxnLst/>
            <a:rect r="r" b="b" t="t" l="l"/>
            <a:pathLst>
              <a:path h="4114800" w="3471395">
                <a:moveTo>
                  <a:pt x="0" y="0"/>
                </a:moveTo>
                <a:lnTo>
                  <a:pt x="3471394" y="0"/>
                </a:lnTo>
                <a:lnTo>
                  <a:pt x="3471394"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6185527">
            <a:off x="12552895" y="-506081"/>
            <a:ext cx="1046352" cy="1969176"/>
          </a:xfrm>
          <a:custGeom>
            <a:avLst/>
            <a:gdLst/>
            <a:ahLst/>
            <a:cxnLst/>
            <a:rect r="r" b="b" t="t" l="l"/>
            <a:pathLst>
              <a:path h="1969176" w="1046352">
                <a:moveTo>
                  <a:pt x="0" y="0"/>
                </a:moveTo>
                <a:lnTo>
                  <a:pt x="1046351" y="0"/>
                </a:lnTo>
                <a:lnTo>
                  <a:pt x="1046351" y="1969175"/>
                </a:lnTo>
                <a:lnTo>
                  <a:pt x="0" y="19691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2461104" y="2626478"/>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69120" y="-606327"/>
            <a:ext cx="15258929" cy="13899497"/>
          </a:xfrm>
          <a:custGeom>
            <a:avLst/>
            <a:gdLst/>
            <a:ahLst/>
            <a:cxnLst/>
            <a:rect r="r" b="b" t="t" l="l"/>
            <a:pathLst>
              <a:path h="13899497" w="15258929">
                <a:moveTo>
                  <a:pt x="0" y="0"/>
                </a:moveTo>
                <a:lnTo>
                  <a:pt x="15258929" y="0"/>
                </a:lnTo>
                <a:lnTo>
                  <a:pt x="15258929" y="13899497"/>
                </a:lnTo>
                <a:lnTo>
                  <a:pt x="0" y="138994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39018">
            <a:off x="-235975" y="8029907"/>
            <a:ext cx="3050187" cy="2456787"/>
          </a:xfrm>
          <a:custGeom>
            <a:avLst/>
            <a:gdLst/>
            <a:ahLst/>
            <a:cxnLst/>
            <a:rect r="r" b="b" t="t" l="l"/>
            <a:pathLst>
              <a:path h="2456787" w="3050187">
                <a:moveTo>
                  <a:pt x="0" y="0"/>
                </a:moveTo>
                <a:lnTo>
                  <a:pt x="3050186" y="0"/>
                </a:lnTo>
                <a:lnTo>
                  <a:pt x="3050186" y="2456786"/>
                </a:lnTo>
                <a:lnTo>
                  <a:pt x="0" y="24567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502553" y="7507942"/>
            <a:ext cx="3513493" cy="3500717"/>
          </a:xfrm>
          <a:custGeom>
            <a:avLst/>
            <a:gdLst/>
            <a:ahLst/>
            <a:cxnLst/>
            <a:rect r="r" b="b" t="t" l="l"/>
            <a:pathLst>
              <a:path h="3500717" w="3513493">
                <a:moveTo>
                  <a:pt x="0" y="0"/>
                </a:moveTo>
                <a:lnTo>
                  <a:pt x="3513494" y="0"/>
                </a:lnTo>
                <a:lnTo>
                  <a:pt x="3513494" y="3500716"/>
                </a:lnTo>
                <a:lnTo>
                  <a:pt x="0" y="35007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3126256">
            <a:off x="346826" y="-532474"/>
            <a:ext cx="1884583" cy="4866295"/>
          </a:xfrm>
          <a:custGeom>
            <a:avLst/>
            <a:gdLst/>
            <a:ahLst/>
            <a:cxnLst/>
            <a:rect r="r" b="b" t="t" l="l"/>
            <a:pathLst>
              <a:path h="4866295" w="1884583">
                <a:moveTo>
                  <a:pt x="0" y="0"/>
                </a:moveTo>
                <a:lnTo>
                  <a:pt x="1884583" y="0"/>
                </a:lnTo>
                <a:lnTo>
                  <a:pt x="1884583" y="4866295"/>
                </a:lnTo>
                <a:lnTo>
                  <a:pt x="0" y="48662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7543091">
            <a:off x="16997449" y="-1606336"/>
            <a:ext cx="2581102" cy="4114800"/>
          </a:xfrm>
          <a:custGeom>
            <a:avLst/>
            <a:gdLst/>
            <a:ahLst/>
            <a:cxnLst/>
            <a:rect r="r" b="b" t="t" l="l"/>
            <a:pathLst>
              <a:path h="4114800" w="2581102">
                <a:moveTo>
                  <a:pt x="0" y="0"/>
                </a:moveTo>
                <a:lnTo>
                  <a:pt x="2581102" y="0"/>
                </a:lnTo>
                <a:lnTo>
                  <a:pt x="2581102"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3307441" y="367538"/>
            <a:ext cx="9475689" cy="1038367"/>
          </a:xfrm>
          <a:prstGeom prst="rect">
            <a:avLst/>
          </a:prstGeom>
        </p:spPr>
        <p:txBody>
          <a:bodyPr anchor="t" rtlCol="false" tIns="0" lIns="0" bIns="0" rIns="0">
            <a:spAutoFit/>
          </a:bodyPr>
          <a:lstStyle/>
          <a:p>
            <a:pPr algn="ctr">
              <a:lnSpc>
                <a:spcPts val="8392"/>
              </a:lnSpc>
            </a:pPr>
            <a:r>
              <a:rPr lang="en-US" sz="5994">
                <a:solidFill>
                  <a:srgbClr val="504EA2"/>
                </a:solidFill>
                <a:latin typeface="Sifonn"/>
                <a:ea typeface="Sifonn"/>
                <a:cs typeface="Sifonn"/>
                <a:sym typeface="Sifonn"/>
              </a:rPr>
              <a:t>TECHNOLOGIES USED</a:t>
            </a:r>
          </a:p>
        </p:txBody>
      </p:sp>
      <p:sp>
        <p:nvSpPr>
          <p:cNvPr name="Freeform 9" id="9"/>
          <p:cNvSpPr/>
          <p:nvPr/>
        </p:nvSpPr>
        <p:spPr>
          <a:xfrm flipH="false" flipV="false" rot="6185527">
            <a:off x="12831572" y="-533524"/>
            <a:ext cx="1046352" cy="1969176"/>
          </a:xfrm>
          <a:custGeom>
            <a:avLst/>
            <a:gdLst/>
            <a:ahLst/>
            <a:cxnLst/>
            <a:rect r="r" b="b" t="t" l="l"/>
            <a:pathLst>
              <a:path h="1969176" w="1046352">
                <a:moveTo>
                  <a:pt x="0" y="0"/>
                </a:moveTo>
                <a:lnTo>
                  <a:pt x="1046351" y="0"/>
                </a:lnTo>
                <a:lnTo>
                  <a:pt x="1046351" y="1969176"/>
                </a:lnTo>
                <a:lnTo>
                  <a:pt x="0" y="19691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1289118" y="3523728"/>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1" id="11"/>
          <p:cNvSpPr txBox="true"/>
          <p:nvPr/>
        </p:nvSpPr>
        <p:spPr>
          <a:xfrm rot="0">
            <a:off x="3087848" y="1348755"/>
            <a:ext cx="13273438" cy="9208212"/>
          </a:xfrm>
          <a:prstGeom prst="rect">
            <a:avLst/>
          </a:prstGeom>
        </p:spPr>
        <p:txBody>
          <a:bodyPr anchor="t" rtlCol="false" tIns="0" lIns="0" bIns="0" rIns="0">
            <a:spAutoFit/>
          </a:bodyPr>
          <a:lstStyle/>
          <a:p>
            <a:pPr algn="just">
              <a:lnSpc>
                <a:spcPts val="4335"/>
              </a:lnSpc>
            </a:pPr>
            <a:r>
              <a:rPr lang="en-US" b="true" sz="3096" u="sng">
                <a:solidFill>
                  <a:srgbClr val="90BF7D"/>
                </a:solidFill>
                <a:latin typeface="Canva Sans Bold"/>
                <a:ea typeface="Canva Sans Bold"/>
                <a:cs typeface="Canva Sans Bold"/>
                <a:sym typeface="Canva Sans Bold"/>
              </a:rPr>
              <a:t>Programming Language – Java</a:t>
            </a:r>
          </a:p>
          <a:p>
            <a:pPr algn="just">
              <a:lnSpc>
                <a:spcPts val="4335"/>
              </a:lnSpc>
            </a:pPr>
            <a:r>
              <a:rPr lang="en-US" b="true" sz="3096">
                <a:solidFill>
                  <a:srgbClr val="0A0D0E"/>
                </a:solidFill>
                <a:latin typeface="Canva Sans Bold"/>
                <a:ea typeface="Canva Sans Bold"/>
                <a:cs typeface="Canva Sans Bold"/>
                <a:sym typeface="Canva Sans Bold"/>
              </a:rPr>
              <a:t> • Core Java concepts (OOP, records, collections, file handling)</a:t>
            </a:r>
          </a:p>
          <a:p>
            <a:pPr algn="just">
              <a:lnSpc>
                <a:spcPts val="4335"/>
              </a:lnSpc>
            </a:pPr>
            <a:r>
              <a:rPr lang="en-US" b="true" sz="3096" u="sng">
                <a:solidFill>
                  <a:srgbClr val="90BF7D"/>
                </a:solidFill>
                <a:latin typeface="Canva Sans Bold"/>
                <a:ea typeface="Canva Sans Bold"/>
                <a:cs typeface="Canva Sans Bold"/>
                <a:sym typeface="Canva Sans Bold"/>
              </a:rPr>
              <a:t>GUI Framework – Swing &amp; AWT</a:t>
            </a:r>
          </a:p>
          <a:p>
            <a:pPr algn="just">
              <a:lnSpc>
                <a:spcPts val="4335"/>
              </a:lnSpc>
            </a:pPr>
            <a:r>
              <a:rPr lang="en-US" b="true" sz="3096">
                <a:solidFill>
                  <a:srgbClr val="0A0D0E"/>
                </a:solidFill>
                <a:latin typeface="Canva Sans Bold"/>
                <a:ea typeface="Canva Sans Bold"/>
                <a:cs typeface="Canva Sans Bold"/>
                <a:sym typeface="Canva Sans Bold"/>
              </a:rPr>
              <a:t> • Components: JFrame, JPanel, JTabbedPane, JButton, JLabel, etc.</a:t>
            </a:r>
          </a:p>
          <a:p>
            <a:pPr algn="just">
              <a:lnSpc>
                <a:spcPts val="4335"/>
              </a:lnSpc>
            </a:pPr>
            <a:r>
              <a:rPr lang="en-US" b="true" sz="3096">
                <a:solidFill>
                  <a:srgbClr val="0A0D0E"/>
                </a:solidFill>
                <a:latin typeface="Canva Sans Bold"/>
                <a:ea typeface="Canva Sans Bold"/>
                <a:cs typeface="Canva Sans Bold"/>
                <a:sym typeface="Canva Sans Bold"/>
              </a:rPr>
              <a:t> • Used for user interface and navigation.</a:t>
            </a:r>
          </a:p>
          <a:p>
            <a:pPr algn="just">
              <a:lnSpc>
                <a:spcPts val="4335"/>
              </a:lnSpc>
            </a:pPr>
            <a:r>
              <a:rPr lang="en-US" b="true" sz="3096" u="sng">
                <a:solidFill>
                  <a:srgbClr val="90BF7D"/>
                </a:solidFill>
                <a:latin typeface="Canva Sans Bold"/>
                <a:ea typeface="Canva Sans Bold"/>
                <a:cs typeface="Canva Sans Bold"/>
                <a:sym typeface="Canva Sans Bold"/>
              </a:rPr>
              <a:t>Database – SQLite (JDBC)</a:t>
            </a:r>
          </a:p>
          <a:p>
            <a:pPr algn="just">
              <a:lnSpc>
                <a:spcPts val="4335"/>
              </a:lnSpc>
            </a:pPr>
            <a:r>
              <a:rPr lang="en-US" b="true" sz="3096">
                <a:solidFill>
                  <a:srgbClr val="0A0D0E"/>
                </a:solidFill>
                <a:latin typeface="Canva Sans Bold"/>
                <a:ea typeface="Canva Sans Bold"/>
                <a:cs typeface="Canva Sans Bold"/>
                <a:sym typeface="Canva Sans Bold"/>
              </a:rPr>
              <a:t> • Stores match data, player stats, and past results.</a:t>
            </a:r>
          </a:p>
          <a:p>
            <a:pPr algn="just">
              <a:lnSpc>
                <a:spcPts val="4335"/>
              </a:lnSpc>
            </a:pPr>
            <a:r>
              <a:rPr lang="en-US" b="true" sz="3096" u="sng">
                <a:solidFill>
                  <a:srgbClr val="90BF7D"/>
                </a:solidFill>
                <a:latin typeface="Canva Sans Bold"/>
                <a:ea typeface="Canva Sans Bold"/>
                <a:cs typeface="Canva Sans Bold"/>
                <a:sym typeface="Canva Sans Bold"/>
              </a:rPr>
              <a:t>Data Visualization – JFreeChart</a:t>
            </a:r>
          </a:p>
          <a:p>
            <a:pPr algn="just">
              <a:lnSpc>
                <a:spcPts val="4335"/>
              </a:lnSpc>
            </a:pPr>
            <a:r>
              <a:rPr lang="en-US" b="true" sz="3096">
                <a:solidFill>
                  <a:srgbClr val="0A0D0E"/>
                </a:solidFill>
                <a:latin typeface="Canva Sans Bold"/>
                <a:ea typeface="Canva Sans Bold"/>
                <a:cs typeface="Canva Sans Bold"/>
                <a:sym typeface="Canva Sans Bold"/>
              </a:rPr>
              <a:t> • Manhattan &amp; Worm charts for cricket match progress.</a:t>
            </a:r>
          </a:p>
          <a:p>
            <a:pPr algn="just">
              <a:lnSpc>
                <a:spcPts val="4335"/>
              </a:lnSpc>
            </a:pPr>
            <a:r>
              <a:rPr lang="en-US" b="true" sz="3096" u="sng">
                <a:solidFill>
                  <a:srgbClr val="90BF7D"/>
                </a:solidFill>
                <a:latin typeface="Canva Sans Bold"/>
                <a:ea typeface="Canva Sans Bold"/>
                <a:cs typeface="Canva Sans Bold"/>
                <a:sym typeface="Canva Sans Bold"/>
              </a:rPr>
              <a:t>Reporting – iText PDF Library</a:t>
            </a:r>
          </a:p>
          <a:p>
            <a:pPr algn="just">
              <a:lnSpc>
                <a:spcPts val="4335"/>
              </a:lnSpc>
            </a:pPr>
            <a:r>
              <a:rPr lang="en-US" b="true" sz="3096">
                <a:solidFill>
                  <a:srgbClr val="0A0D0E"/>
                </a:solidFill>
                <a:latin typeface="Canva Sans Bold"/>
                <a:ea typeface="Canva Sans Bold"/>
                <a:cs typeface="Canva Sans Bold"/>
                <a:sym typeface="Canva Sans Bold"/>
              </a:rPr>
              <a:t> • Generates professional match summaries and scorecards.</a:t>
            </a:r>
          </a:p>
          <a:p>
            <a:pPr algn="just">
              <a:lnSpc>
                <a:spcPts val="4335"/>
              </a:lnSpc>
            </a:pPr>
            <a:r>
              <a:rPr lang="en-US" b="true" sz="3096" u="sng">
                <a:solidFill>
                  <a:srgbClr val="90BF7D"/>
                </a:solidFill>
                <a:latin typeface="Canva Sans Bold"/>
                <a:ea typeface="Canva Sans Bold"/>
                <a:cs typeface="Canva Sans Bold"/>
                <a:sym typeface="Canva Sans Bold"/>
              </a:rPr>
              <a:t>Java Collections Framework</a:t>
            </a:r>
          </a:p>
          <a:p>
            <a:pPr algn="just">
              <a:lnSpc>
                <a:spcPts val="4335"/>
              </a:lnSpc>
            </a:pPr>
            <a:r>
              <a:rPr lang="en-US" b="true" sz="3096">
                <a:solidFill>
                  <a:srgbClr val="0A0D0E"/>
                </a:solidFill>
                <a:latin typeface="Canva Sans Bold"/>
                <a:ea typeface="Canva Sans Bold"/>
                <a:cs typeface="Canva Sans Bold"/>
                <a:sym typeface="Canva Sans Bold"/>
              </a:rPr>
              <a:t>• ArrayList, HashMap, Stack for managing teams, players, and undo/redo.</a:t>
            </a:r>
          </a:p>
          <a:p>
            <a:pPr algn="just">
              <a:lnSpc>
                <a:spcPts val="4335"/>
              </a:lnSpc>
            </a:pPr>
            <a:r>
              <a:rPr lang="en-US" b="true" sz="3096" u="sng">
                <a:solidFill>
                  <a:srgbClr val="90BF7D"/>
                </a:solidFill>
                <a:latin typeface="Canva Sans Bold"/>
                <a:ea typeface="Canva Sans Bold"/>
                <a:cs typeface="Canva Sans Bold"/>
                <a:sym typeface="Canva Sans Bold"/>
              </a:rPr>
              <a:t>File Handling &amp; Streams</a:t>
            </a:r>
          </a:p>
          <a:p>
            <a:pPr algn="just">
              <a:lnSpc>
                <a:spcPts val="4335"/>
              </a:lnSpc>
            </a:pPr>
            <a:r>
              <a:rPr lang="en-US" b="true" sz="3096">
                <a:solidFill>
                  <a:srgbClr val="0A0D0E"/>
                </a:solidFill>
                <a:latin typeface="Canva Sans Bold"/>
                <a:ea typeface="Canva Sans Bold"/>
                <a:cs typeface="Canva Sans Bold"/>
                <a:sym typeface="Canva Sans Bold"/>
              </a:rPr>
              <a:t> • Export highlights to CSV and handle match data efficiently.</a:t>
            </a:r>
          </a:p>
          <a:p>
            <a:pPr algn="just">
              <a:lnSpc>
                <a:spcPts val="4335"/>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254097"/>
            <a:ext cx="18555177" cy="16902079"/>
          </a:xfrm>
          <a:custGeom>
            <a:avLst/>
            <a:gdLst/>
            <a:ahLst/>
            <a:cxnLst/>
            <a:rect r="r" b="b" t="t" l="l"/>
            <a:pathLst>
              <a:path h="16902079" w="18555177">
                <a:moveTo>
                  <a:pt x="0" y="0"/>
                </a:moveTo>
                <a:lnTo>
                  <a:pt x="18555177" y="0"/>
                </a:lnTo>
                <a:lnTo>
                  <a:pt x="18555177" y="16902079"/>
                </a:lnTo>
                <a:lnTo>
                  <a:pt x="0" y="16902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479891" y="2202551"/>
            <a:ext cx="14576432" cy="700610"/>
          </a:xfrm>
          <a:prstGeom prst="rect">
            <a:avLst/>
          </a:prstGeom>
        </p:spPr>
        <p:txBody>
          <a:bodyPr anchor="t" rtlCol="false" tIns="0" lIns="0" bIns="0" rIns="0">
            <a:spAutoFit/>
          </a:bodyPr>
          <a:lstStyle/>
          <a:p>
            <a:pPr algn="ctr">
              <a:lnSpc>
                <a:spcPts val="5781"/>
              </a:lnSpc>
            </a:pPr>
          </a:p>
        </p:txBody>
      </p:sp>
      <p:sp>
        <p:nvSpPr>
          <p:cNvPr name="Freeform 5" id="5"/>
          <p:cNvSpPr/>
          <p:nvPr/>
        </p:nvSpPr>
        <p:spPr>
          <a:xfrm flipH="false" flipV="false" rot="0">
            <a:off x="-3603748" y="9196151"/>
            <a:ext cx="3921354" cy="2181699"/>
          </a:xfrm>
          <a:custGeom>
            <a:avLst/>
            <a:gdLst/>
            <a:ahLst/>
            <a:cxnLst/>
            <a:rect r="r" b="b" t="t" l="l"/>
            <a:pathLst>
              <a:path h="2181699" w="3921354">
                <a:moveTo>
                  <a:pt x="0" y="0"/>
                </a:moveTo>
                <a:lnTo>
                  <a:pt x="3921354" y="0"/>
                </a:lnTo>
                <a:lnTo>
                  <a:pt x="3921354" y="2181698"/>
                </a:lnTo>
                <a:lnTo>
                  <a:pt x="0" y="2181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6185527">
            <a:off x="15017599" y="-388517"/>
            <a:ext cx="1046352" cy="1969176"/>
          </a:xfrm>
          <a:custGeom>
            <a:avLst/>
            <a:gdLst/>
            <a:ahLst/>
            <a:cxnLst/>
            <a:rect r="r" b="b" t="t" l="l"/>
            <a:pathLst>
              <a:path h="1969176" w="1046352">
                <a:moveTo>
                  <a:pt x="0" y="0"/>
                </a:moveTo>
                <a:lnTo>
                  <a:pt x="1046351" y="0"/>
                </a:lnTo>
                <a:lnTo>
                  <a:pt x="1046351" y="1969176"/>
                </a:lnTo>
                <a:lnTo>
                  <a:pt x="0" y="19691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32258" y="596071"/>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4507673" y="1826149"/>
            <a:ext cx="10076496" cy="7928997"/>
          </a:xfrm>
          <a:custGeom>
            <a:avLst/>
            <a:gdLst/>
            <a:ahLst/>
            <a:cxnLst/>
            <a:rect r="r" b="b" t="t" l="l"/>
            <a:pathLst>
              <a:path h="7928997" w="10076496">
                <a:moveTo>
                  <a:pt x="0" y="0"/>
                </a:moveTo>
                <a:lnTo>
                  <a:pt x="10076495" y="0"/>
                </a:lnTo>
                <a:lnTo>
                  <a:pt x="10076495" y="7928997"/>
                </a:lnTo>
                <a:lnTo>
                  <a:pt x="0" y="7928997"/>
                </a:lnTo>
                <a:lnTo>
                  <a:pt x="0" y="0"/>
                </a:lnTo>
                <a:close/>
              </a:path>
            </a:pathLst>
          </a:custGeom>
          <a:blipFill>
            <a:blip r:embed="rId12"/>
            <a:stretch>
              <a:fillRect l="-118277" t="-57261" r="-113450" b="-79757"/>
            </a:stretch>
          </a:blipFill>
        </p:spPr>
      </p:sp>
      <p:sp>
        <p:nvSpPr>
          <p:cNvPr name="TextBox 9" id="9"/>
          <p:cNvSpPr txBox="true"/>
          <p:nvPr/>
        </p:nvSpPr>
        <p:spPr>
          <a:xfrm rot="0">
            <a:off x="4507673" y="573114"/>
            <a:ext cx="9451933" cy="821055"/>
          </a:xfrm>
          <a:prstGeom prst="rect">
            <a:avLst/>
          </a:prstGeom>
        </p:spPr>
        <p:txBody>
          <a:bodyPr anchor="t" rtlCol="false" tIns="0" lIns="0" bIns="0" rIns="0">
            <a:spAutoFit/>
          </a:bodyPr>
          <a:lstStyle/>
          <a:p>
            <a:pPr algn="ctr">
              <a:lnSpc>
                <a:spcPts val="6719"/>
              </a:lnSpc>
            </a:pPr>
            <a:r>
              <a:rPr lang="en-US" sz="4800">
                <a:solidFill>
                  <a:srgbClr val="777698"/>
                </a:solidFill>
                <a:latin typeface="Sifonn"/>
                <a:ea typeface="Sifonn"/>
                <a:cs typeface="Sifonn"/>
                <a:sym typeface="Sifonn"/>
              </a:rPr>
              <a:t> COMPLETE FLOW DIAGRAM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84456" y="-254097"/>
            <a:ext cx="13967302" cy="12722942"/>
          </a:xfrm>
          <a:custGeom>
            <a:avLst/>
            <a:gdLst/>
            <a:ahLst/>
            <a:cxnLst/>
            <a:rect r="r" b="b" t="t" l="l"/>
            <a:pathLst>
              <a:path h="12722942" w="13967302">
                <a:moveTo>
                  <a:pt x="0" y="0"/>
                </a:moveTo>
                <a:lnTo>
                  <a:pt x="13967302" y="0"/>
                </a:lnTo>
                <a:lnTo>
                  <a:pt x="13967302" y="12722942"/>
                </a:lnTo>
                <a:lnTo>
                  <a:pt x="0" y="127229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479891" y="2202551"/>
            <a:ext cx="14576432" cy="700610"/>
          </a:xfrm>
          <a:prstGeom prst="rect">
            <a:avLst/>
          </a:prstGeom>
        </p:spPr>
        <p:txBody>
          <a:bodyPr anchor="t" rtlCol="false" tIns="0" lIns="0" bIns="0" rIns="0">
            <a:spAutoFit/>
          </a:bodyPr>
          <a:lstStyle/>
          <a:p>
            <a:pPr algn="ctr">
              <a:lnSpc>
                <a:spcPts val="5781"/>
              </a:lnSpc>
            </a:pPr>
          </a:p>
        </p:txBody>
      </p:sp>
      <p:sp>
        <p:nvSpPr>
          <p:cNvPr name="TextBox 5" id="5"/>
          <p:cNvSpPr txBox="true"/>
          <p:nvPr/>
        </p:nvSpPr>
        <p:spPr>
          <a:xfrm rot="0">
            <a:off x="4363836" y="570548"/>
            <a:ext cx="7634731" cy="821055"/>
          </a:xfrm>
          <a:prstGeom prst="rect">
            <a:avLst/>
          </a:prstGeom>
        </p:spPr>
        <p:txBody>
          <a:bodyPr anchor="t" rtlCol="false" tIns="0" lIns="0" bIns="0" rIns="0">
            <a:spAutoFit/>
          </a:bodyPr>
          <a:lstStyle/>
          <a:p>
            <a:pPr algn="ctr">
              <a:lnSpc>
                <a:spcPts val="6719"/>
              </a:lnSpc>
            </a:pPr>
            <a:r>
              <a:rPr lang="en-US" sz="4800">
                <a:solidFill>
                  <a:srgbClr val="777698"/>
                </a:solidFill>
                <a:latin typeface="Sifonn"/>
                <a:ea typeface="Sifonn"/>
                <a:cs typeface="Sifonn"/>
                <a:sym typeface="Sifonn"/>
              </a:rPr>
              <a:t>ARCHITECTURE</a:t>
            </a:r>
          </a:p>
        </p:txBody>
      </p:sp>
      <p:sp>
        <p:nvSpPr>
          <p:cNvPr name="Freeform 6" id="6"/>
          <p:cNvSpPr/>
          <p:nvPr/>
        </p:nvSpPr>
        <p:spPr>
          <a:xfrm flipH="false" flipV="false" rot="0">
            <a:off x="-500017" y="8464756"/>
            <a:ext cx="3921354" cy="2181699"/>
          </a:xfrm>
          <a:custGeom>
            <a:avLst/>
            <a:gdLst/>
            <a:ahLst/>
            <a:cxnLst/>
            <a:rect r="r" b="b" t="t" l="l"/>
            <a:pathLst>
              <a:path h="2181699" w="3921354">
                <a:moveTo>
                  <a:pt x="0" y="0"/>
                </a:moveTo>
                <a:lnTo>
                  <a:pt x="3921354" y="0"/>
                </a:lnTo>
                <a:lnTo>
                  <a:pt x="3921354" y="2181699"/>
                </a:lnTo>
                <a:lnTo>
                  <a:pt x="0" y="218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61244">
            <a:off x="14288653" y="-607994"/>
            <a:ext cx="4815191" cy="4114800"/>
          </a:xfrm>
          <a:custGeom>
            <a:avLst/>
            <a:gdLst/>
            <a:ahLst/>
            <a:cxnLst/>
            <a:rect r="r" b="b" t="t" l="l"/>
            <a:pathLst>
              <a:path h="4114800" w="4815191">
                <a:moveTo>
                  <a:pt x="0" y="0"/>
                </a:moveTo>
                <a:lnTo>
                  <a:pt x="4815191" y="0"/>
                </a:lnTo>
                <a:lnTo>
                  <a:pt x="481519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5009161" y="7017486"/>
            <a:ext cx="2925007" cy="3204689"/>
          </a:xfrm>
          <a:custGeom>
            <a:avLst/>
            <a:gdLst/>
            <a:ahLst/>
            <a:cxnLst/>
            <a:rect r="r" b="b" t="t" l="l"/>
            <a:pathLst>
              <a:path h="3204689" w="2925007">
                <a:moveTo>
                  <a:pt x="0" y="0"/>
                </a:moveTo>
                <a:lnTo>
                  <a:pt x="2925007" y="0"/>
                </a:lnTo>
                <a:lnTo>
                  <a:pt x="2925007" y="3204688"/>
                </a:lnTo>
                <a:lnTo>
                  <a:pt x="0" y="32046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1320029">
            <a:off x="-706997" y="-586144"/>
            <a:ext cx="3471395" cy="4114800"/>
          </a:xfrm>
          <a:custGeom>
            <a:avLst/>
            <a:gdLst/>
            <a:ahLst/>
            <a:cxnLst/>
            <a:rect r="r" b="b" t="t" l="l"/>
            <a:pathLst>
              <a:path h="4114800" w="3471395">
                <a:moveTo>
                  <a:pt x="0" y="0"/>
                </a:moveTo>
                <a:lnTo>
                  <a:pt x="3471394" y="0"/>
                </a:lnTo>
                <a:lnTo>
                  <a:pt x="3471394"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6185527">
            <a:off x="12552895" y="-506081"/>
            <a:ext cx="1046352" cy="1969176"/>
          </a:xfrm>
          <a:custGeom>
            <a:avLst/>
            <a:gdLst/>
            <a:ahLst/>
            <a:cxnLst/>
            <a:rect r="r" b="b" t="t" l="l"/>
            <a:pathLst>
              <a:path h="1969176" w="1046352">
                <a:moveTo>
                  <a:pt x="0" y="0"/>
                </a:moveTo>
                <a:lnTo>
                  <a:pt x="1046351" y="0"/>
                </a:lnTo>
                <a:lnTo>
                  <a:pt x="1046351" y="1969175"/>
                </a:lnTo>
                <a:lnTo>
                  <a:pt x="0" y="19691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2091504" y="1975917"/>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2" id="12"/>
          <p:cNvSpPr txBox="true"/>
          <p:nvPr/>
        </p:nvSpPr>
        <p:spPr>
          <a:xfrm rot="0">
            <a:off x="3588567" y="1686521"/>
            <a:ext cx="10586439" cy="8622664"/>
          </a:xfrm>
          <a:prstGeom prst="rect">
            <a:avLst/>
          </a:prstGeom>
        </p:spPr>
        <p:txBody>
          <a:bodyPr anchor="t" rtlCol="false" tIns="0" lIns="0" bIns="0" rIns="0">
            <a:spAutoFit/>
          </a:bodyPr>
          <a:lstStyle/>
          <a:p>
            <a:pPr algn="l">
              <a:lnSpc>
                <a:spcPts val="3169"/>
              </a:lnSpc>
              <a:spcBef>
                <a:spcPct val="0"/>
              </a:spcBef>
            </a:pPr>
            <a:r>
              <a:rPr lang="en-US" b="true" sz="2263">
                <a:solidFill>
                  <a:srgbClr val="90BF7D"/>
                </a:solidFill>
                <a:latin typeface="Canva Sans Bold"/>
                <a:ea typeface="Canva Sans Bold"/>
                <a:cs typeface="Canva Sans Bold"/>
                <a:sym typeface="Canva Sans Bold"/>
              </a:rPr>
              <a:t>Sc</a:t>
            </a:r>
            <a:r>
              <a:rPr lang="en-US" b="true" sz="2263">
                <a:solidFill>
                  <a:srgbClr val="90BF7D"/>
                </a:solidFill>
                <a:latin typeface="Canva Sans Bold"/>
                <a:ea typeface="Canva Sans Bold"/>
                <a:cs typeface="Canva Sans Bold"/>
                <a:sym typeface="Canva Sans Bold"/>
              </a:rPr>
              <a:t>oreboardManager (Main Window)</a:t>
            </a:r>
          </a:p>
          <a:p>
            <a:pPr algn="l">
              <a:lnSpc>
                <a:spcPts val="3169"/>
              </a:lnSpc>
              <a:spcBef>
                <a:spcPct val="0"/>
              </a:spcBef>
            </a:pPr>
            <a:r>
              <a:rPr lang="en-US" b="true" sz="2263">
                <a:solidFill>
                  <a:srgbClr val="90BF7D"/>
                </a:solidFill>
                <a:latin typeface="Canva Sans Bold"/>
                <a:ea typeface="Canva Sans Bold"/>
                <a:cs typeface="Canva Sans Bold"/>
                <a:sym typeface="Canva Sans Bold"/>
              </a:rPr>
              <a:t> </a:t>
            </a:r>
            <a:r>
              <a:rPr lang="en-US" b="true" sz="2263">
                <a:solidFill>
                  <a:srgbClr val="F09B3C"/>
                </a:solidFill>
                <a:latin typeface="Canva Sans Bold"/>
                <a:ea typeface="Canva Sans Bold"/>
                <a:cs typeface="Canva Sans Bold"/>
                <a:sym typeface="Canva Sans Bold"/>
              </a:rPr>
              <a:t>├── Cricket Module</a:t>
            </a:r>
          </a:p>
          <a:p>
            <a:pPr algn="l">
              <a:lnSpc>
                <a:spcPts val="3169"/>
              </a:lnSpc>
              <a:spcBef>
                <a:spcPct val="0"/>
              </a:spcBef>
            </a:pPr>
            <a:r>
              <a:rPr lang="en-US" b="true" sz="2263">
                <a:solidFill>
                  <a:srgbClr val="F09B3C"/>
                </a:solidFill>
                <a:latin typeface="Canva Sans Bold"/>
                <a:ea typeface="Canva Sans Bold"/>
                <a:cs typeface="Canva Sans Bold"/>
                <a:sym typeface="Canva Sans Bold"/>
              </a:rPr>
              <a:t> │     ├</a:t>
            </a:r>
            <a:r>
              <a:rPr lang="en-US" b="true" sz="2263">
                <a:solidFill>
                  <a:srgbClr val="0A0D0E"/>
                </a:solidFill>
                <a:latin typeface="Canva Sans Bold"/>
                <a:ea typeface="Canva Sans Bold"/>
                <a:cs typeface="Canva Sans Bold"/>
                <a:sym typeface="Canva Sans Bold"/>
              </a:rPr>
              <a:t>── MatchData, MatchState</a:t>
            </a:r>
          </a:p>
          <a:p>
            <a:pPr algn="l">
              <a:lnSpc>
                <a:spcPts val="3169"/>
              </a:lnSpc>
              <a:spcBef>
                <a:spcPct val="0"/>
              </a:spcBef>
            </a:pPr>
            <a:r>
              <a:rPr lang="en-US" b="true" sz="2263">
                <a:solidFill>
                  <a:srgbClr val="0A0D0E"/>
                </a:solidFill>
                <a:latin typeface="Canva Sans Bold"/>
                <a:ea typeface="Canva Sans Bold"/>
                <a:cs typeface="Canva Sans Bold"/>
                <a:sym typeface="Canva Sans Bold"/>
              </a:rPr>
              <a:t> │     ├── CricketPanel </a:t>
            </a:r>
          </a:p>
          <a:p>
            <a:pPr algn="l">
              <a:lnSpc>
                <a:spcPts val="3169"/>
              </a:lnSpc>
              <a:spcBef>
                <a:spcPct val="0"/>
              </a:spcBef>
            </a:pPr>
            <a:r>
              <a:rPr lang="en-US" b="true" sz="2263">
                <a:solidFill>
                  <a:srgbClr val="0A0D0E"/>
                </a:solidFill>
                <a:latin typeface="Canva Sans Bold"/>
                <a:ea typeface="Canva Sans Bold"/>
                <a:cs typeface="Canva Sans Bold"/>
                <a:sym typeface="Canva Sans Bold"/>
              </a:rPr>
              <a:t> │     │     ├── Live Scoring (Runs, Wickets, Overs)</a:t>
            </a:r>
          </a:p>
          <a:p>
            <a:pPr algn="l">
              <a:lnSpc>
                <a:spcPts val="3169"/>
              </a:lnSpc>
              <a:spcBef>
                <a:spcPct val="0"/>
              </a:spcBef>
            </a:pPr>
            <a:r>
              <a:rPr lang="en-US" b="true" sz="2263">
                <a:solidFill>
                  <a:srgbClr val="0A0D0E"/>
                </a:solidFill>
                <a:latin typeface="Canva Sans Bold"/>
                <a:ea typeface="Canva Sans Bold"/>
                <a:cs typeface="Canva Sans Bold"/>
                <a:sym typeface="Canva Sans Bold"/>
              </a:rPr>
              <a:t> │     │     ├── Charts (Manhattan &amp; Worm)</a:t>
            </a:r>
          </a:p>
          <a:p>
            <a:pPr algn="l">
              <a:lnSpc>
                <a:spcPts val="3169"/>
              </a:lnSpc>
              <a:spcBef>
                <a:spcPct val="0"/>
              </a:spcBef>
            </a:pPr>
            <a:r>
              <a:rPr lang="en-US" b="true" sz="2263">
                <a:solidFill>
                  <a:srgbClr val="0A0D0E"/>
                </a:solidFill>
                <a:latin typeface="Canva Sans Bold"/>
                <a:ea typeface="Canva Sans Bold"/>
                <a:cs typeface="Canva Sans Bold"/>
                <a:sym typeface="Canva Sans Bold"/>
              </a:rPr>
              <a:t> │     │     ├── Undo/Redo System</a:t>
            </a:r>
          </a:p>
          <a:p>
            <a:pPr algn="l">
              <a:lnSpc>
                <a:spcPts val="3169"/>
              </a:lnSpc>
              <a:spcBef>
                <a:spcPct val="0"/>
              </a:spcBef>
            </a:pPr>
            <a:r>
              <a:rPr lang="en-US" b="true" sz="2263">
                <a:solidFill>
                  <a:srgbClr val="0A0D0E"/>
                </a:solidFill>
                <a:latin typeface="Canva Sans Bold"/>
                <a:ea typeface="Canva Sans Bold"/>
                <a:cs typeface="Canva Sans Bold"/>
                <a:sym typeface="Canva Sans Bold"/>
              </a:rPr>
              <a:t> │     │     └── Highlights Export (CSV)</a:t>
            </a:r>
          </a:p>
          <a:p>
            <a:pPr algn="l">
              <a:lnSpc>
                <a:spcPts val="3169"/>
              </a:lnSpc>
              <a:spcBef>
                <a:spcPct val="0"/>
              </a:spcBef>
            </a:pPr>
            <a:r>
              <a:rPr lang="en-US" b="true" sz="2263">
                <a:solidFill>
                  <a:srgbClr val="0A0D0E"/>
                </a:solidFill>
                <a:latin typeface="Canva Sans Bold"/>
                <a:ea typeface="Canva Sans Bold"/>
                <a:cs typeface="Canva Sans Bold"/>
                <a:sym typeface="Canva Sans Bold"/>
              </a:rPr>
              <a:t> │     └── PDF Export (iText Report)</a:t>
            </a:r>
          </a:p>
          <a:p>
            <a:pPr algn="l">
              <a:lnSpc>
                <a:spcPts val="3169"/>
              </a:lnSpc>
              <a:spcBef>
                <a:spcPct val="0"/>
              </a:spcBef>
            </a:pPr>
            <a:r>
              <a:rPr lang="en-US" b="true" sz="2263">
                <a:solidFill>
                  <a:srgbClr val="F09B3C"/>
                </a:solidFill>
                <a:latin typeface="Canva Sans Bold"/>
                <a:ea typeface="Canva Sans Bold"/>
                <a:cs typeface="Canva Sans Bold"/>
                <a:sym typeface="Canva Sans Bold"/>
              </a:rPr>
              <a:t> │</a:t>
            </a:r>
          </a:p>
          <a:p>
            <a:pPr algn="l">
              <a:lnSpc>
                <a:spcPts val="3169"/>
              </a:lnSpc>
              <a:spcBef>
                <a:spcPct val="0"/>
              </a:spcBef>
            </a:pPr>
            <a:r>
              <a:rPr lang="en-US" b="true" sz="2263">
                <a:solidFill>
                  <a:srgbClr val="F09B3C"/>
                </a:solidFill>
                <a:latin typeface="Canva Sans Bold"/>
                <a:ea typeface="Canva Sans Bold"/>
                <a:cs typeface="Canva Sans Bold"/>
                <a:sym typeface="Canva Sans Bold"/>
              </a:rPr>
              <a:t> ├── Football Module</a:t>
            </a:r>
          </a:p>
          <a:p>
            <a:pPr algn="l">
              <a:lnSpc>
                <a:spcPts val="3169"/>
              </a:lnSpc>
              <a:spcBef>
                <a:spcPct val="0"/>
              </a:spcBef>
            </a:pPr>
            <a:r>
              <a:rPr lang="en-US" b="true" sz="2263">
                <a:solidFill>
                  <a:srgbClr val="F09B3C"/>
                </a:solidFill>
                <a:latin typeface="Canva Sans Bold"/>
                <a:ea typeface="Canva Sans Bold"/>
                <a:cs typeface="Canva Sans Bold"/>
                <a:sym typeface="Canva Sans Bold"/>
              </a:rPr>
              <a:t> │     ├─</a:t>
            </a:r>
            <a:r>
              <a:rPr lang="en-US" b="true" sz="2263">
                <a:solidFill>
                  <a:srgbClr val="0A0D0E"/>
                </a:solidFill>
                <a:latin typeface="Canva Sans Bold"/>
                <a:ea typeface="Canva Sans Bold"/>
                <a:cs typeface="Canva Sans Bold"/>
                <a:sym typeface="Canva Sans Bold"/>
              </a:rPr>
              <a:t>─ FootballPanel</a:t>
            </a:r>
          </a:p>
          <a:p>
            <a:pPr algn="l">
              <a:lnSpc>
                <a:spcPts val="3169"/>
              </a:lnSpc>
              <a:spcBef>
                <a:spcPct val="0"/>
              </a:spcBef>
            </a:pPr>
            <a:r>
              <a:rPr lang="en-US" b="true" sz="2263">
                <a:solidFill>
                  <a:srgbClr val="0A0D0E"/>
                </a:solidFill>
                <a:latin typeface="Canva Sans Bold"/>
                <a:ea typeface="Canva Sans Bold"/>
                <a:cs typeface="Canva Sans Bold"/>
                <a:sym typeface="Canva Sans Bold"/>
              </a:rPr>
              <a:t> │     │     ├── Live Scoreboard (Goals, Fouls, Cards)</a:t>
            </a:r>
          </a:p>
          <a:p>
            <a:pPr algn="l">
              <a:lnSpc>
                <a:spcPts val="3169"/>
              </a:lnSpc>
              <a:spcBef>
                <a:spcPct val="0"/>
              </a:spcBef>
            </a:pPr>
            <a:r>
              <a:rPr lang="en-US" b="true" sz="2263">
                <a:solidFill>
                  <a:srgbClr val="0A0D0E"/>
                </a:solidFill>
                <a:latin typeface="Canva Sans Bold"/>
                <a:ea typeface="Canva Sans Bold"/>
                <a:cs typeface="Canva Sans Bold"/>
                <a:sym typeface="Canva Sans Bold"/>
              </a:rPr>
              <a:t> │     │     ├── Event Tracking (Goals, Yellow/Red Cards, Substitutions)</a:t>
            </a:r>
          </a:p>
          <a:p>
            <a:pPr algn="l">
              <a:lnSpc>
                <a:spcPts val="3169"/>
              </a:lnSpc>
              <a:spcBef>
                <a:spcPct val="0"/>
              </a:spcBef>
            </a:pPr>
            <a:r>
              <a:rPr lang="en-US" b="true" sz="2263">
                <a:solidFill>
                  <a:srgbClr val="0A0D0E"/>
                </a:solidFill>
                <a:latin typeface="Canva Sans Bold"/>
                <a:ea typeface="Canva Sans Bold"/>
                <a:cs typeface="Canva Sans Bold"/>
                <a:sym typeface="Canva Sans Bold"/>
              </a:rPr>
              <a:t> │     │     ├── Match Timer &amp; Timeline Display</a:t>
            </a:r>
          </a:p>
          <a:p>
            <a:pPr algn="l">
              <a:lnSpc>
                <a:spcPts val="3169"/>
              </a:lnSpc>
              <a:spcBef>
                <a:spcPct val="0"/>
              </a:spcBef>
            </a:pPr>
            <a:r>
              <a:rPr lang="en-US" b="true" sz="2263">
                <a:solidFill>
                  <a:srgbClr val="0A0D0E"/>
                </a:solidFill>
                <a:latin typeface="Canva Sans Bold"/>
                <a:ea typeface="Canva Sans Bold"/>
                <a:cs typeface="Canva Sans Bold"/>
                <a:sym typeface="Canva Sans Bold"/>
              </a:rPr>
              <a:t> │     │     └── PDF Summary Generation</a:t>
            </a:r>
          </a:p>
          <a:p>
            <a:pPr algn="l">
              <a:lnSpc>
                <a:spcPts val="3169"/>
              </a:lnSpc>
              <a:spcBef>
                <a:spcPct val="0"/>
              </a:spcBef>
            </a:pPr>
            <a:r>
              <a:rPr lang="en-US" b="true" sz="2263">
                <a:solidFill>
                  <a:srgbClr val="F09B3C"/>
                </a:solidFill>
                <a:latin typeface="Canva Sans Bold"/>
                <a:ea typeface="Canva Sans Bold"/>
                <a:cs typeface="Canva Sans Bold"/>
                <a:sym typeface="Canva Sans Bold"/>
              </a:rPr>
              <a:t> │</a:t>
            </a:r>
          </a:p>
          <a:p>
            <a:pPr algn="l">
              <a:lnSpc>
                <a:spcPts val="3169"/>
              </a:lnSpc>
              <a:spcBef>
                <a:spcPct val="0"/>
              </a:spcBef>
            </a:pPr>
            <a:r>
              <a:rPr lang="en-US" b="true" sz="2263">
                <a:solidFill>
                  <a:srgbClr val="F09B3C"/>
                </a:solidFill>
                <a:latin typeface="Canva Sans Bold"/>
                <a:ea typeface="Canva Sans Bold"/>
                <a:cs typeface="Canva Sans Bold"/>
                <a:sym typeface="Canva Sans Bold"/>
              </a:rPr>
              <a:t> └── Database Layer (SQLite via JDBC)</a:t>
            </a:r>
          </a:p>
          <a:p>
            <a:pPr algn="l">
              <a:lnSpc>
                <a:spcPts val="3169"/>
              </a:lnSpc>
              <a:spcBef>
                <a:spcPct val="0"/>
              </a:spcBef>
            </a:pPr>
            <a:r>
              <a:rPr lang="en-US" b="true" sz="2263">
                <a:solidFill>
                  <a:srgbClr val="F09B3C"/>
                </a:solidFill>
                <a:latin typeface="Canva Sans Bold"/>
                <a:ea typeface="Canva Sans Bold"/>
                <a:cs typeface="Canva Sans Bold"/>
                <a:sym typeface="Canva Sans Bold"/>
              </a:rPr>
              <a:t>        </a:t>
            </a:r>
            <a:r>
              <a:rPr lang="en-US" b="true" sz="2263">
                <a:solidFill>
                  <a:srgbClr val="0A0D0E"/>
                </a:solidFill>
                <a:latin typeface="Canva Sans Bold"/>
                <a:ea typeface="Canva Sans Bold"/>
                <a:cs typeface="Canva Sans Bold"/>
                <a:sym typeface="Canva Sans Bold"/>
              </a:rPr>
              <a:t>├── Match Records Table (Cricket &amp; Football)</a:t>
            </a:r>
          </a:p>
          <a:p>
            <a:pPr algn="l">
              <a:lnSpc>
                <a:spcPts val="3169"/>
              </a:lnSpc>
              <a:spcBef>
                <a:spcPct val="0"/>
              </a:spcBef>
            </a:pPr>
            <a:r>
              <a:rPr lang="en-US" b="true" sz="2263">
                <a:solidFill>
                  <a:srgbClr val="0A0D0E"/>
                </a:solidFill>
                <a:latin typeface="Canva Sans Bold"/>
                <a:ea typeface="Canva Sans Bold"/>
                <a:cs typeface="Canva Sans Bold"/>
                <a:sym typeface="Canva Sans Bold"/>
              </a:rPr>
              <a:t>        ├── Player Statistics Table</a:t>
            </a:r>
          </a:p>
          <a:p>
            <a:pPr algn="l">
              <a:lnSpc>
                <a:spcPts val="3169"/>
              </a:lnSpc>
              <a:spcBef>
                <a:spcPct val="0"/>
              </a:spcBef>
            </a:pPr>
            <a:r>
              <a:rPr lang="en-US" b="true" sz="2263">
                <a:solidFill>
                  <a:srgbClr val="0A0D0E"/>
                </a:solidFill>
                <a:latin typeface="Canva Sans Bold"/>
                <a:ea typeface="Canva Sans Bold"/>
                <a:cs typeface="Canva Sans Bold"/>
                <a:sym typeface="Canva Sans Bold"/>
              </a:rPr>
              <a:t>        └── Match History Retrieval</a:t>
            </a:r>
          </a:p>
          <a:p>
            <a:pPr algn="l">
              <a:lnSpc>
                <a:spcPts val="180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6185527">
            <a:off x="12552895" y="-506081"/>
            <a:ext cx="1046352" cy="1969176"/>
          </a:xfrm>
          <a:custGeom>
            <a:avLst/>
            <a:gdLst/>
            <a:ahLst/>
            <a:cxnLst/>
            <a:rect r="r" b="b" t="t" l="l"/>
            <a:pathLst>
              <a:path h="1969176" w="1046352">
                <a:moveTo>
                  <a:pt x="0" y="0"/>
                </a:moveTo>
                <a:lnTo>
                  <a:pt x="1046351" y="0"/>
                </a:lnTo>
                <a:lnTo>
                  <a:pt x="1046351" y="1969175"/>
                </a:lnTo>
                <a:lnTo>
                  <a:pt x="0" y="19691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55497" y="1149886"/>
            <a:ext cx="11377006" cy="7889740"/>
          </a:xfrm>
          <a:custGeom>
            <a:avLst/>
            <a:gdLst/>
            <a:ahLst/>
            <a:cxnLst/>
            <a:rect r="r" b="b" t="t" l="l"/>
            <a:pathLst>
              <a:path h="7889740" w="11377006">
                <a:moveTo>
                  <a:pt x="0" y="0"/>
                </a:moveTo>
                <a:lnTo>
                  <a:pt x="11377006" y="0"/>
                </a:lnTo>
                <a:lnTo>
                  <a:pt x="11377006" y="7889741"/>
                </a:lnTo>
                <a:lnTo>
                  <a:pt x="0" y="78897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59264" y="681884"/>
            <a:ext cx="14169472" cy="9826263"/>
          </a:xfrm>
          <a:custGeom>
            <a:avLst/>
            <a:gdLst/>
            <a:ahLst/>
            <a:cxnLst/>
            <a:rect r="r" b="b" t="t" l="l"/>
            <a:pathLst>
              <a:path h="9826263" w="14169472">
                <a:moveTo>
                  <a:pt x="0" y="0"/>
                </a:moveTo>
                <a:lnTo>
                  <a:pt x="14169472" y="0"/>
                </a:lnTo>
                <a:lnTo>
                  <a:pt x="14169472" y="9826264"/>
                </a:lnTo>
                <a:lnTo>
                  <a:pt x="0" y="98262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141062" y="4083352"/>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146047">
            <a:off x="14643665" y="7041128"/>
            <a:ext cx="6127330" cy="3654117"/>
          </a:xfrm>
          <a:custGeom>
            <a:avLst/>
            <a:gdLst/>
            <a:ahLst/>
            <a:cxnLst/>
            <a:rect r="r" b="b" t="t" l="l"/>
            <a:pathLst>
              <a:path h="3654117" w="6127330">
                <a:moveTo>
                  <a:pt x="0" y="0"/>
                </a:moveTo>
                <a:lnTo>
                  <a:pt x="6127330" y="0"/>
                </a:lnTo>
                <a:lnTo>
                  <a:pt x="6127330" y="3654117"/>
                </a:lnTo>
                <a:lnTo>
                  <a:pt x="0" y="36541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929044" y="-1278983"/>
            <a:ext cx="4535351" cy="4114800"/>
          </a:xfrm>
          <a:custGeom>
            <a:avLst/>
            <a:gdLst/>
            <a:ahLst/>
            <a:cxnLst/>
            <a:rect r="r" b="b" t="t" l="l"/>
            <a:pathLst>
              <a:path h="4114800" w="4535351">
                <a:moveTo>
                  <a:pt x="0" y="0"/>
                </a:moveTo>
                <a:lnTo>
                  <a:pt x="4535351" y="0"/>
                </a:lnTo>
                <a:lnTo>
                  <a:pt x="453535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1767777">
            <a:off x="-894034" y="750596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5167673" y="-688840"/>
            <a:ext cx="4183253" cy="4114800"/>
          </a:xfrm>
          <a:custGeom>
            <a:avLst/>
            <a:gdLst/>
            <a:ahLst/>
            <a:cxnLst/>
            <a:rect r="r" b="b" t="t" l="l"/>
            <a:pathLst>
              <a:path h="4114800" w="4183253">
                <a:moveTo>
                  <a:pt x="0" y="0"/>
                </a:moveTo>
                <a:lnTo>
                  <a:pt x="4183254" y="0"/>
                </a:lnTo>
                <a:lnTo>
                  <a:pt x="4183254"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0" id="10"/>
          <p:cNvSpPr txBox="true"/>
          <p:nvPr/>
        </p:nvSpPr>
        <p:spPr>
          <a:xfrm rot="0">
            <a:off x="3441099" y="1454721"/>
            <a:ext cx="13818201" cy="1027565"/>
          </a:xfrm>
          <a:prstGeom prst="rect">
            <a:avLst/>
          </a:prstGeom>
        </p:spPr>
        <p:txBody>
          <a:bodyPr anchor="t" rtlCol="false" tIns="0" lIns="0" bIns="0" rIns="0">
            <a:spAutoFit/>
          </a:bodyPr>
          <a:lstStyle/>
          <a:p>
            <a:pPr algn="l">
              <a:lnSpc>
                <a:spcPts val="8462"/>
              </a:lnSpc>
            </a:pPr>
            <a:r>
              <a:rPr lang="en-US" sz="6044">
                <a:solidFill>
                  <a:srgbClr val="777698"/>
                </a:solidFill>
                <a:latin typeface="Sifonn"/>
                <a:ea typeface="Sifonn"/>
                <a:cs typeface="Sifonn"/>
                <a:sym typeface="Sifonn"/>
              </a:rPr>
              <a:t>CRICKET MODULE FEATURES</a:t>
            </a:r>
          </a:p>
        </p:txBody>
      </p:sp>
      <p:sp>
        <p:nvSpPr>
          <p:cNvPr name="TextBox 11" id="11"/>
          <p:cNvSpPr txBox="true"/>
          <p:nvPr/>
        </p:nvSpPr>
        <p:spPr>
          <a:xfrm rot="0">
            <a:off x="2931050" y="2769142"/>
            <a:ext cx="12425900" cy="7118430"/>
          </a:xfrm>
          <a:prstGeom prst="rect">
            <a:avLst/>
          </a:prstGeom>
        </p:spPr>
        <p:txBody>
          <a:bodyPr anchor="t" rtlCol="false" tIns="0" lIns="0" bIns="0" rIns="0">
            <a:spAutoFit/>
          </a:bodyPr>
          <a:lstStyle/>
          <a:p>
            <a:pPr algn="ctr">
              <a:lnSpc>
                <a:spcPts val="5096"/>
              </a:lnSpc>
            </a:pPr>
          </a:p>
          <a:p>
            <a:pPr algn="l" marL="786005" indent="-393003" lvl="1">
              <a:lnSpc>
                <a:spcPts val="5096"/>
              </a:lnSpc>
              <a:buFont typeface="Arial"/>
              <a:buChar char="•"/>
            </a:pPr>
            <a:r>
              <a:rPr lang="en-US" b="true" sz="3640">
                <a:solidFill>
                  <a:srgbClr val="1D1F1E"/>
                </a:solidFill>
                <a:latin typeface="Canva Sans Bold"/>
                <a:ea typeface="Canva Sans Bold"/>
                <a:cs typeface="Canva Sans Bold"/>
                <a:sym typeface="Canva Sans Bold"/>
              </a:rPr>
              <a:t>Match Setup: Teams, players, toss, overs, venue</a:t>
            </a:r>
          </a:p>
          <a:p>
            <a:pPr algn="l">
              <a:lnSpc>
                <a:spcPts val="5096"/>
              </a:lnSpc>
            </a:pPr>
            <a:r>
              <a:rPr lang="en-US" sz="3640" b="true">
                <a:solidFill>
                  <a:srgbClr val="1D1F1E"/>
                </a:solidFill>
                <a:latin typeface="Canva Sans Bold"/>
                <a:ea typeface="Canva Sans Bold"/>
                <a:cs typeface="Canva Sans Bold"/>
                <a:sym typeface="Canva Sans Bold"/>
              </a:rPr>
              <a:t>        </a:t>
            </a:r>
            <a:r>
              <a:rPr lang="en-US" sz="3640" b="true">
                <a:solidFill>
                  <a:srgbClr val="1D1F1E"/>
                </a:solidFill>
                <a:latin typeface="Canva Sans Bold"/>
                <a:ea typeface="Canva Sans Bold"/>
                <a:cs typeface="Canva Sans Bold"/>
                <a:sym typeface="Canva Sans Bold"/>
              </a:rPr>
              <a:t>Live Scoring: Runs, wickets, overs, run rate</a:t>
            </a:r>
          </a:p>
          <a:p>
            <a:pPr algn="l" marL="786005" indent="-393003" lvl="1">
              <a:lnSpc>
                <a:spcPts val="5096"/>
              </a:lnSpc>
              <a:buFont typeface="Arial"/>
              <a:buChar char="•"/>
            </a:pPr>
            <a:r>
              <a:rPr lang="en-US" b="true" sz="3640">
                <a:solidFill>
                  <a:srgbClr val="1D1F1E"/>
                </a:solidFill>
                <a:latin typeface="Canva Sans Bold"/>
                <a:ea typeface="Canva Sans Bold"/>
                <a:cs typeface="Canva Sans Bold"/>
                <a:sym typeface="Canva Sans Bold"/>
              </a:rPr>
              <a:t>Charts:</a:t>
            </a:r>
          </a:p>
          <a:p>
            <a:pPr algn="l" marL="1572010" indent="-524003" lvl="2">
              <a:lnSpc>
                <a:spcPts val="5096"/>
              </a:lnSpc>
              <a:buFont typeface="Arial"/>
              <a:buChar char="⚬"/>
            </a:pPr>
            <a:r>
              <a:rPr lang="en-US" b="true" sz="3640">
                <a:solidFill>
                  <a:srgbClr val="1D1F1E"/>
                </a:solidFill>
                <a:latin typeface="Canva Sans Bold"/>
                <a:ea typeface="Canva Sans Bold"/>
                <a:cs typeface="Canva Sans Bold"/>
                <a:sym typeface="Canva Sans Bold"/>
              </a:rPr>
              <a:t>Manhattan Chart – Runs per over</a:t>
            </a:r>
          </a:p>
          <a:p>
            <a:pPr algn="l" marL="1572010" indent="-524003" lvl="2">
              <a:lnSpc>
                <a:spcPts val="5096"/>
              </a:lnSpc>
              <a:buFont typeface="Arial"/>
              <a:buChar char="⚬"/>
            </a:pPr>
            <a:r>
              <a:rPr lang="en-US" b="true" sz="3640">
                <a:solidFill>
                  <a:srgbClr val="1D1F1E"/>
                </a:solidFill>
                <a:latin typeface="Canva Sans Bold"/>
                <a:ea typeface="Canva Sans Bold"/>
                <a:cs typeface="Canva Sans Bold"/>
                <a:sym typeface="Canva Sans Bold"/>
              </a:rPr>
              <a:t>Worm Chart – Cumulative run progress</a:t>
            </a:r>
          </a:p>
          <a:p>
            <a:pPr algn="l" marL="786005" indent="-393003" lvl="1">
              <a:lnSpc>
                <a:spcPts val="5096"/>
              </a:lnSpc>
              <a:buFont typeface="Arial"/>
              <a:buChar char="•"/>
            </a:pPr>
            <a:r>
              <a:rPr lang="en-US" b="true" sz="3640">
                <a:solidFill>
                  <a:srgbClr val="1D1F1E"/>
                </a:solidFill>
                <a:latin typeface="Canva Sans Bold"/>
                <a:ea typeface="Canva Sans Bold"/>
                <a:cs typeface="Canva Sans Bold"/>
                <a:sym typeface="Canva Sans Bold"/>
              </a:rPr>
              <a:t>Player Stats: Runs, balls, 4s, 6s, SR, wickets</a:t>
            </a:r>
          </a:p>
          <a:p>
            <a:pPr algn="l" marL="786005" indent="-393003" lvl="1">
              <a:lnSpc>
                <a:spcPts val="5096"/>
              </a:lnSpc>
              <a:buFont typeface="Arial"/>
              <a:buChar char="•"/>
            </a:pPr>
            <a:r>
              <a:rPr lang="en-US" b="true" sz="3640">
                <a:solidFill>
                  <a:srgbClr val="1D1F1E"/>
                </a:solidFill>
                <a:latin typeface="Canva Sans Bold"/>
                <a:ea typeface="Canva Sans Bold"/>
                <a:cs typeface="Canva Sans Bold"/>
                <a:sym typeface="Canva Sans Bold"/>
              </a:rPr>
              <a:t>Export PDF: Full scoreboard + match summary</a:t>
            </a:r>
          </a:p>
          <a:p>
            <a:pPr algn="l" marL="786005" indent="-393003" lvl="1">
              <a:lnSpc>
                <a:spcPts val="5096"/>
              </a:lnSpc>
              <a:buFont typeface="Arial"/>
              <a:buChar char="•"/>
            </a:pPr>
            <a:r>
              <a:rPr lang="en-US" b="true" sz="3640">
                <a:solidFill>
                  <a:srgbClr val="1D1F1E"/>
                </a:solidFill>
                <a:latin typeface="Canva Sans Bold"/>
                <a:ea typeface="Canva Sans Bold"/>
                <a:cs typeface="Canva Sans Bold"/>
                <a:sym typeface="Canva Sans Bold"/>
              </a:rPr>
              <a:t>Undo/Redo &amp; CSV export</a:t>
            </a:r>
          </a:p>
          <a:p>
            <a:pPr algn="ctr">
              <a:lnSpc>
                <a:spcPts val="5096"/>
              </a:lnSpc>
            </a:pPr>
          </a:p>
          <a:p>
            <a:pPr algn="ctr">
              <a:lnSpc>
                <a:spcPts val="6094"/>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69120" y="-606327"/>
            <a:ext cx="15258929" cy="13899497"/>
          </a:xfrm>
          <a:custGeom>
            <a:avLst/>
            <a:gdLst/>
            <a:ahLst/>
            <a:cxnLst/>
            <a:rect r="r" b="b" t="t" l="l"/>
            <a:pathLst>
              <a:path h="13899497" w="15258929">
                <a:moveTo>
                  <a:pt x="0" y="0"/>
                </a:moveTo>
                <a:lnTo>
                  <a:pt x="15258929" y="0"/>
                </a:lnTo>
                <a:lnTo>
                  <a:pt x="15258929" y="13899497"/>
                </a:lnTo>
                <a:lnTo>
                  <a:pt x="0" y="138994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39018">
            <a:off x="-235975" y="8029907"/>
            <a:ext cx="3050187" cy="2456787"/>
          </a:xfrm>
          <a:custGeom>
            <a:avLst/>
            <a:gdLst/>
            <a:ahLst/>
            <a:cxnLst/>
            <a:rect r="r" b="b" t="t" l="l"/>
            <a:pathLst>
              <a:path h="2456787" w="3050187">
                <a:moveTo>
                  <a:pt x="0" y="0"/>
                </a:moveTo>
                <a:lnTo>
                  <a:pt x="3050186" y="0"/>
                </a:lnTo>
                <a:lnTo>
                  <a:pt x="3050186" y="2456786"/>
                </a:lnTo>
                <a:lnTo>
                  <a:pt x="0" y="24567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502553" y="7507942"/>
            <a:ext cx="3513493" cy="3500717"/>
          </a:xfrm>
          <a:custGeom>
            <a:avLst/>
            <a:gdLst/>
            <a:ahLst/>
            <a:cxnLst/>
            <a:rect r="r" b="b" t="t" l="l"/>
            <a:pathLst>
              <a:path h="3500717" w="3513493">
                <a:moveTo>
                  <a:pt x="0" y="0"/>
                </a:moveTo>
                <a:lnTo>
                  <a:pt x="3513494" y="0"/>
                </a:lnTo>
                <a:lnTo>
                  <a:pt x="3513494" y="3500716"/>
                </a:lnTo>
                <a:lnTo>
                  <a:pt x="0" y="35007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3126256">
            <a:off x="346826" y="-532474"/>
            <a:ext cx="1884583" cy="4866295"/>
          </a:xfrm>
          <a:custGeom>
            <a:avLst/>
            <a:gdLst/>
            <a:ahLst/>
            <a:cxnLst/>
            <a:rect r="r" b="b" t="t" l="l"/>
            <a:pathLst>
              <a:path h="4866295" w="1884583">
                <a:moveTo>
                  <a:pt x="0" y="0"/>
                </a:moveTo>
                <a:lnTo>
                  <a:pt x="1884583" y="0"/>
                </a:lnTo>
                <a:lnTo>
                  <a:pt x="1884583" y="4866295"/>
                </a:lnTo>
                <a:lnTo>
                  <a:pt x="0" y="48662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7543091">
            <a:off x="16997449" y="-1606336"/>
            <a:ext cx="2581102" cy="4114800"/>
          </a:xfrm>
          <a:custGeom>
            <a:avLst/>
            <a:gdLst/>
            <a:ahLst/>
            <a:cxnLst/>
            <a:rect r="r" b="b" t="t" l="l"/>
            <a:pathLst>
              <a:path h="4114800" w="2581102">
                <a:moveTo>
                  <a:pt x="0" y="0"/>
                </a:moveTo>
                <a:lnTo>
                  <a:pt x="2581102" y="0"/>
                </a:lnTo>
                <a:lnTo>
                  <a:pt x="2581102"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6185527">
            <a:off x="13815878" y="-251985"/>
            <a:ext cx="1046352" cy="1969176"/>
          </a:xfrm>
          <a:custGeom>
            <a:avLst/>
            <a:gdLst/>
            <a:ahLst/>
            <a:cxnLst/>
            <a:rect r="r" b="b" t="t" l="l"/>
            <a:pathLst>
              <a:path h="1969176" w="1046352">
                <a:moveTo>
                  <a:pt x="0" y="0"/>
                </a:moveTo>
                <a:lnTo>
                  <a:pt x="1046352" y="0"/>
                </a:lnTo>
                <a:lnTo>
                  <a:pt x="1046352" y="1969176"/>
                </a:lnTo>
                <a:lnTo>
                  <a:pt x="0" y="19691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289118" y="3523728"/>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5471461" y="1185112"/>
            <a:ext cx="7342414" cy="8867646"/>
          </a:xfrm>
          <a:custGeom>
            <a:avLst/>
            <a:gdLst/>
            <a:ahLst/>
            <a:cxnLst/>
            <a:rect r="r" b="b" t="t" l="l"/>
            <a:pathLst>
              <a:path h="8867646" w="7342414">
                <a:moveTo>
                  <a:pt x="0" y="0"/>
                </a:moveTo>
                <a:lnTo>
                  <a:pt x="7342414" y="0"/>
                </a:lnTo>
                <a:lnTo>
                  <a:pt x="7342414" y="8867645"/>
                </a:lnTo>
                <a:lnTo>
                  <a:pt x="0" y="8867645"/>
                </a:lnTo>
                <a:lnTo>
                  <a:pt x="0" y="0"/>
                </a:lnTo>
                <a:close/>
              </a:path>
            </a:pathLst>
          </a:custGeom>
          <a:blipFill>
            <a:blip r:embed="rId18"/>
            <a:stretch>
              <a:fillRect l="0" t="-472" r="-1467" b="-1108"/>
            </a:stretch>
          </a:blipFill>
        </p:spPr>
      </p:sp>
      <p:sp>
        <p:nvSpPr>
          <p:cNvPr name="TextBox 11" id="11"/>
          <p:cNvSpPr txBox="true"/>
          <p:nvPr/>
        </p:nvSpPr>
        <p:spPr>
          <a:xfrm rot="0">
            <a:off x="4027301" y="146745"/>
            <a:ext cx="9475689" cy="1038367"/>
          </a:xfrm>
          <a:prstGeom prst="rect">
            <a:avLst/>
          </a:prstGeom>
        </p:spPr>
        <p:txBody>
          <a:bodyPr anchor="t" rtlCol="false" tIns="0" lIns="0" bIns="0" rIns="0">
            <a:spAutoFit/>
          </a:bodyPr>
          <a:lstStyle/>
          <a:p>
            <a:pPr algn="ctr">
              <a:lnSpc>
                <a:spcPts val="8392"/>
              </a:lnSpc>
            </a:pPr>
            <a:r>
              <a:rPr lang="en-US" sz="5994">
                <a:solidFill>
                  <a:srgbClr val="504EA2"/>
                </a:solidFill>
                <a:latin typeface="Sifonn"/>
                <a:ea typeface="Sifonn"/>
                <a:cs typeface="Sifonn"/>
                <a:sym typeface="Sifonn"/>
              </a:rPr>
              <a:t>TESTING AND OUTPUT</a:t>
            </a:r>
          </a:p>
        </p:txBody>
      </p:sp>
      <p:sp>
        <p:nvSpPr>
          <p:cNvPr name="TextBox 12" id="12"/>
          <p:cNvSpPr txBox="true"/>
          <p:nvPr/>
        </p:nvSpPr>
        <p:spPr>
          <a:xfrm rot="0">
            <a:off x="3087848" y="1348755"/>
            <a:ext cx="13273438" cy="521412"/>
          </a:xfrm>
          <a:prstGeom prst="rect">
            <a:avLst/>
          </a:prstGeom>
        </p:spPr>
        <p:txBody>
          <a:bodyPr anchor="t" rtlCol="false" tIns="0" lIns="0" bIns="0" rIns="0">
            <a:spAutoFit/>
          </a:bodyPr>
          <a:lstStyle/>
          <a:p>
            <a:pPr algn="just">
              <a:lnSpc>
                <a:spcPts val="4335"/>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69120" y="-606327"/>
            <a:ext cx="15258929" cy="13899497"/>
          </a:xfrm>
          <a:custGeom>
            <a:avLst/>
            <a:gdLst/>
            <a:ahLst/>
            <a:cxnLst/>
            <a:rect r="r" b="b" t="t" l="l"/>
            <a:pathLst>
              <a:path h="13899497" w="15258929">
                <a:moveTo>
                  <a:pt x="0" y="0"/>
                </a:moveTo>
                <a:lnTo>
                  <a:pt x="15258929" y="0"/>
                </a:lnTo>
                <a:lnTo>
                  <a:pt x="15258929" y="13899497"/>
                </a:lnTo>
                <a:lnTo>
                  <a:pt x="0" y="138994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185527">
            <a:off x="16915615" y="-79155"/>
            <a:ext cx="1046352" cy="1969176"/>
          </a:xfrm>
          <a:custGeom>
            <a:avLst/>
            <a:gdLst/>
            <a:ahLst/>
            <a:cxnLst/>
            <a:rect r="r" b="b" t="t" l="l"/>
            <a:pathLst>
              <a:path h="1969176" w="1046352">
                <a:moveTo>
                  <a:pt x="0" y="0"/>
                </a:moveTo>
                <a:lnTo>
                  <a:pt x="1046351" y="0"/>
                </a:lnTo>
                <a:lnTo>
                  <a:pt x="1046351" y="1969176"/>
                </a:lnTo>
                <a:lnTo>
                  <a:pt x="0" y="19691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568459" y="1638036"/>
            <a:ext cx="11460252" cy="7852395"/>
          </a:xfrm>
          <a:custGeom>
            <a:avLst/>
            <a:gdLst/>
            <a:ahLst/>
            <a:cxnLst/>
            <a:rect r="r" b="b" t="t" l="l"/>
            <a:pathLst>
              <a:path h="7852395" w="11460252">
                <a:moveTo>
                  <a:pt x="0" y="0"/>
                </a:moveTo>
                <a:lnTo>
                  <a:pt x="11460251" y="0"/>
                </a:lnTo>
                <a:lnTo>
                  <a:pt x="11460251" y="7852395"/>
                </a:lnTo>
                <a:lnTo>
                  <a:pt x="0" y="7852395"/>
                </a:lnTo>
                <a:lnTo>
                  <a:pt x="0" y="0"/>
                </a:lnTo>
                <a:close/>
              </a:path>
            </a:pathLst>
          </a:custGeom>
          <a:blipFill>
            <a:blip r:embed="rId8"/>
            <a:stretch>
              <a:fillRect l="0" t="0" r="0" b="0"/>
            </a:stretch>
          </a:blipFill>
        </p:spPr>
      </p:sp>
      <p:sp>
        <p:nvSpPr>
          <p:cNvPr name="TextBox 6" id="6"/>
          <p:cNvSpPr txBox="true"/>
          <p:nvPr/>
        </p:nvSpPr>
        <p:spPr>
          <a:xfrm rot="0">
            <a:off x="4027301" y="146745"/>
            <a:ext cx="9475689" cy="1038367"/>
          </a:xfrm>
          <a:prstGeom prst="rect">
            <a:avLst/>
          </a:prstGeom>
        </p:spPr>
        <p:txBody>
          <a:bodyPr anchor="t" rtlCol="false" tIns="0" lIns="0" bIns="0" rIns="0">
            <a:spAutoFit/>
          </a:bodyPr>
          <a:lstStyle/>
          <a:p>
            <a:pPr algn="ctr">
              <a:lnSpc>
                <a:spcPts val="8392"/>
              </a:lnSpc>
            </a:pPr>
            <a:r>
              <a:rPr lang="en-US" sz="5994">
                <a:solidFill>
                  <a:srgbClr val="504EA2"/>
                </a:solidFill>
                <a:latin typeface="Sifonn"/>
                <a:ea typeface="Sifonn"/>
                <a:cs typeface="Sifonn"/>
                <a:sym typeface="Sifonn"/>
              </a:rPr>
              <a:t>TESTING AND OUTPUT</a:t>
            </a:r>
          </a:p>
        </p:txBody>
      </p:sp>
      <p:sp>
        <p:nvSpPr>
          <p:cNvPr name="TextBox 7" id="7"/>
          <p:cNvSpPr txBox="true"/>
          <p:nvPr/>
        </p:nvSpPr>
        <p:spPr>
          <a:xfrm rot="0">
            <a:off x="3087848" y="1348755"/>
            <a:ext cx="13273438" cy="521412"/>
          </a:xfrm>
          <a:prstGeom prst="rect">
            <a:avLst/>
          </a:prstGeom>
        </p:spPr>
        <p:txBody>
          <a:bodyPr anchor="t" rtlCol="false" tIns="0" lIns="0" bIns="0" rIns="0">
            <a:spAutoFit/>
          </a:bodyPr>
          <a:lstStyle/>
          <a:p>
            <a:pPr algn="just">
              <a:lnSpc>
                <a:spcPts val="4335"/>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69120" y="-606327"/>
            <a:ext cx="15258929" cy="13899497"/>
          </a:xfrm>
          <a:custGeom>
            <a:avLst/>
            <a:gdLst/>
            <a:ahLst/>
            <a:cxnLst/>
            <a:rect r="r" b="b" t="t" l="l"/>
            <a:pathLst>
              <a:path h="13899497" w="15258929">
                <a:moveTo>
                  <a:pt x="0" y="0"/>
                </a:moveTo>
                <a:lnTo>
                  <a:pt x="15258929" y="0"/>
                </a:lnTo>
                <a:lnTo>
                  <a:pt x="15258929" y="13899497"/>
                </a:lnTo>
                <a:lnTo>
                  <a:pt x="0" y="138994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185527">
            <a:off x="16915615" y="-79155"/>
            <a:ext cx="1046352" cy="1969176"/>
          </a:xfrm>
          <a:custGeom>
            <a:avLst/>
            <a:gdLst/>
            <a:ahLst/>
            <a:cxnLst/>
            <a:rect r="r" b="b" t="t" l="l"/>
            <a:pathLst>
              <a:path h="1969176" w="1046352">
                <a:moveTo>
                  <a:pt x="0" y="0"/>
                </a:moveTo>
                <a:lnTo>
                  <a:pt x="1046351" y="0"/>
                </a:lnTo>
                <a:lnTo>
                  <a:pt x="1046351" y="1969176"/>
                </a:lnTo>
                <a:lnTo>
                  <a:pt x="0" y="19691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987983" y="1405905"/>
            <a:ext cx="12578782" cy="8595501"/>
          </a:xfrm>
          <a:custGeom>
            <a:avLst/>
            <a:gdLst/>
            <a:ahLst/>
            <a:cxnLst/>
            <a:rect r="r" b="b" t="t" l="l"/>
            <a:pathLst>
              <a:path h="8595501" w="12578782">
                <a:moveTo>
                  <a:pt x="0" y="0"/>
                </a:moveTo>
                <a:lnTo>
                  <a:pt x="12578782" y="0"/>
                </a:lnTo>
                <a:lnTo>
                  <a:pt x="12578782" y="8595502"/>
                </a:lnTo>
                <a:lnTo>
                  <a:pt x="0" y="8595502"/>
                </a:lnTo>
                <a:lnTo>
                  <a:pt x="0" y="0"/>
                </a:lnTo>
                <a:close/>
              </a:path>
            </a:pathLst>
          </a:custGeom>
          <a:blipFill>
            <a:blip r:embed="rId8"/>
            <a:stretch>
              <a:fillRect l="0" t="0" r="0" b="0"/>
            </a:stretch>
          </a:blipFill>
        </p:spPr>
      </p:sp>
      <p:sp>
        <p:nvSpPr>
          <p:cNvPr name="TextBox 6" id="6"/>
          <p:cNvSpPr txBox="true"/>
          <p:nvPr/>
        </p:nvSpPr>
        <p:spPr>
          <a:xfrm rot="0">
            <a:off x="4027301" y="146745"/>
            <a:ext cx="9475689" cy="1038367"/>
          </a:xfrm>
          <a:prstGeom prst="rect">
            <a:avLst/>
          </a:prstGeom>
        </p:spPr>
        <p:txBody>
          <a:bodyPr anchor="t" rtlCol="false" tIns="0" lIns="0" bIns="0" rIns="0">
            <a:spAutoFit/>
          </a:bodyPr>
          <a:lstStyle/>
          <a:p>
            <a:pPr algn="ctr">
              <a:lnSpc>
                <a:spcPts val="8392"/>
              </a:lnSpc>
            </a:pPr>
            <a:r>
              <a:rPr lang="en-US" sz="5994">
                <a:solidFill>
                  <a:srgbClr val="504EA2"/>
                </a:solidFill>
                <a:latin typeface="Sifonn"/>
                <a:ea typeface="Sifonn"/>
                <a:cs typeface="Sifonn"/>
                <a:sym typeface="Sifonn"/>
              </a:rPr>
              <a:t>TESTING AND OUTPUT</a:t>
            </a:r>
          </a:p>
        </p:txBody>
      </p:sp>
      <p:sp>
        <p:nvSpPr>
          <p:cNvPr name="TextBox 7" id="7"/>
          <p:cNvSpPr txBox="true"/>
          <p:nvPr/>
        </p:nvSpPr>
        <p:spPr>
          <a:xfrm rot="0">
            <a:off x="3087848" y="1348755"/>
            <a:ext cx="13273438" cy="521412"/>
          </a:xfrm>
          <a:prstGeom prst="rect">
            <a:avLst/>
          </a:prstGeom>
        </p:spPr>
        <p:txBody>
          <a:bodyPr anchor="t" rtlCol="false" tIns="0" lIns="0" bIns="0" rIns="0">
            <a:spAutoFit/>
          </a:bodyPr>
          <a:lstStyle/>
          <a:p>
            <a:pPr algn="just">
              <a:lnSpc>
                <a:spcPts val="4335"/>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69120" y="-606327"/>
            <a:ext cx="15258929" cy="13899497"/>
          </a:xfrm>
          <a:custGeom>
            <a:avLst/>
            <a:gdLst/>
            <a:ahLst/>
            <a:cxnLst/>
            <a:rect r="r" b="b" t="t" l="l"/>
            <a:pathLst>
              <a:path h="13899497" w="15258929">
                <a:moveTo>
                  <a:pt x="0" y="0"/>
                </a:moveTo>
                <a:lnTo>
                  <a:pt x="15258929" y="0"/>
                </a:lnTo>
                <a:lnTo>
                  <a:pt x="15258929" y="13899497"/>
                </a:lnTo>
                <a:lnTo>
                  <a:pt x="0" y="138994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39018">
            <a:off x="-235975" y="8029907"/>
            <a:ext cx="3050187" cy="2456787"/>
          </a:xfrm>
          <a:custGeom>
            <a:avLst/>
            <a:gdLst/>
            <a:ahLst/>
            <a:cxnLst/>
            <a:rect r="r" b="b" t="t" l="l"/>
            <a:pathLst>
              <a:path h="2456787" w="3050187">
                <a:moveTo>
                  <a:pt x="0" y="0"/>
                </a:moveTo>
                <a:lnTo>
                  <a:pt x="3050186" y="0"/>
                </a:lnTo>
                <a:lnTo>
                  <a:pt x="3050186" y="2456786"/>
                </a:lnTo>
                <a:lnTo>
                  <a:pt x="0" y="24567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502553" y="7507942"/>
            <a:ext cx="3513493" cy="3500717"/>
          </a:xfrm>
          <a:custGeom>
            <a:avLst/>
            <a:gdLst/>
            <a:ahLst/>
            <a:cxnLst/>
            <a:rect r="r" b="b" t="t" l="l"/>
            <a:pathLst>
              <a:path h="3500717" w="3513493">
                <a:moveTo>
                  <a:pt x="0" y="0"/>
                </a:moveTo>
                <a:lnTo>
                  <a:pt x="3513494" y="0"/>
                </a:lnTo>
                <a:lnTo>
                  <a:pt x="3513494" y="3500716"/>
                </a:lnTo>
                <a:lnTo>
                  <a:pt x="0" y="35007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3126256">
            <a:off x="346826" y="-532474"/>
            <a:ext cx="1884583" cy="4866295"/>
          </a:xfrm>
          <a:custGeom>
            <a:avLst/>
            <a:gdLst/>
            <a:ahLst/>
            <a:cxnLst/>
            <a:rect r="r" b="b" t="t" l="l"/>
            <a:pathLst>
              <a:path h="4866295" w="1884583">
                <a:moveTo>
                  <a:pt x="0" y="0"/>
                </a:moveTo>
                <a:lnTo>
                  <a:pt x="1884583" y="0"/>
                </a:lnTo>
                <a:lnTo>
                  <a:pt x="1884583" y="4866295"/>
                </a:lnTo>
                <a:lnTo>
                  <a:pt x="0" y="48662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7543091">
            <a:off x="16997449" y="-1606336"/>
            <a:ext cx="2581102" cy="4114800"/>
          </a:xfrm>
          <a:custGeom>
            <a:avLst/>
            <a:gdLst/>
            <a:ahLst/>
            <a:cxnLst/>
            <a:rect r="r" b="b" t="t" l="l"/>
            <a:pathLst>
              <a:path h="4114800" w="2581102">
                <a:moveTo>
                  <a:pt x="0" y="0"/>
                </a:moveTo>
                <a:lnTo>
                  <a:pt x="2581102" y="0"/>
                </a:lnTo>
                <a:lnTo>
                  <a:pt x="2581102"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6185527">
            <a:off x="16404873" y="2088818"/>
            <a:ext cx="1046352" cy="1969176"/>
          </a:xfrm>
          <a:custGeom>
            <a:avLst/>
            <a:gdLst/>
            <a:ahLst/>
            <a:cxnLst/>
            <a:rect r="r" b="b" t="t" l="l"/>
            <a:pathLst>
              <a:path h="1969176" w="1046352">
                <a:moveTo>
                  <a:pt x="0" y="0"/>
                </a:moveTo>
                <a:lnTo>
                  <a:pt x="1046352" y="0"/>
                </a:lnTo>
                <a:lnTo>
                  <a:pt x="1046352" y="1969175"/>
                </a:lnTo>
                <a:lnTo>
                  <a:pt x="0" y="19691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289118" y="3523728"/>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5789803" y="1483776"/>
            <a:ext cx="6467412" cy="8725354"/>
          </a:xfrm>
          <a:custGeom>
            <a:avLst/>
            <a:gdLst/>
            <a:ahLst/>
            <a:cxnLst/>
            <a:rect r="r" b="b" t="t" l="l"/>
            <a:pathLst>
              <a:path h="8725354" w="6467412">
                <a:moveTo>
                  <a:pt x="0" y="0"/>
                </a:moveTo>
                <a:lnTo>
                  <a:pt x="6467412" y="0"/>
                </a:lnTo>
                <a:lnTo>
                  <a:pt x="6467412" y="8725354"/>
                </a:lnTo>
                <a:lnTo>
                  <a:pt x="0" y="8725354"/>
                </a:lnTo>
                <a:lnTo>
                  <a:pt x="0" y="0"/>
                </a:lnTo>
                <a:close/>
              </a:path>
            </a:pathLst>
          </a:custGeom>
          <a:blipFill>
            <a:blip r:embed="rId18"/>
            <a:stretch>
              <a:fillRect l="-9412" t="-6844" r="0" b="0"/>
            </a:stretch>
          </a:blipFill>
        </p:spPr>
      </p:sp>
      <p:sp>
        <p:nvSpPr>
          <p:cNvPr name="TextBox 11" id="11"/>
          <p:cNvSpPr txBox="true"/>
          <p:nvPr/>
        </p:nvSpPr>
        <p:spPr>
          <a:xfrm rot="0">
            <a:off x="4144940" y="445408"/>
            <a:ext cx="10307290" cy="1038367"/>
          </a:xfrm>
          <a:prstGeom prst="rect">
            <a:avLst/>
          </a:prstGeom>
        </p:spPr>
        <p:txBody>
          <a:bodyPr anchor="t" rtlCol="false" tIns="0" lIns="0" bIns="0" rIns="0">
            <a:spAutoFit/>
          </a:bodyPr>
          <a:lstStyle/>
          <a:p>
            <a:pPr algn="ctr">
              <a:lnSpc>
                <a:spcPts val="8392"/>
              </a:lnSpc>
            </a:pPr>
            <a:r>
              <a:rPr lang="en-US" sz="5994">
                <a:solidFill>
                  <a:srgbClr val="504EA2"/>
                </a:solidFill>
                <a:latin typeface="Sifonn"/>
                <a:ea typeface="Sifonn"/>
                <a:cs typeface="Sifonn"/>
                <a:sym typeface="Sifonn"/>
              </a:rPr>
              <a:t>DATABASE INTEGRATION </a:t>
            </a:r>
          </a:p>
        </p:txBody>
      </p:sp>
      <p:sp>
        <p:nvSpPr>
          <p:cNvPr name="TextBox 12" id="12"/>
          <p:cNvSpPr txBox="true"/>
          <p:nvPr/>
        </p:nvSpPr>
        <p:spPr>
          <a:xfrm rot="0">
            <a:off x="3087848" y="1348755"/>
            <a:ext cx="13273438" cy="521412"/>
          </a:xfrm>
          <a:prstGeom prst="rect">
            <a:avLst/>
          </a:prstGeom>
        </p:spPr>
        <p:txBody>
          <a:bodyPr anchor="t" rtlCol="false" tIns="0" lIns="0" bIns="0" rIns="0">
            <a:spAutoFit/>
          </a:bodyPr>
          <a:lstStyle/>
          <a:p>
            <a:pPr algn="just">
              <a:lnSpc>
                <a:spcPts val="4335"/>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6185527">
            <a:off x="12552895" y="-506081"/>
            <a:ext cx="1046352" cy="1969176"/>
          </a:xfrm>
          <a:custGeom>
            <a:avLst/>
            <a:gdLst/>
            <a:ahLst/>
            <a:cxnLst/>
            <a:rect r="r" b="b" t="t" l="l"/>
            <a:pathLst>
              <a:path h="1969176" w="1046352">
                <a:moveTo>
                  <a:pt x="0" y="0"/>
                </a:moveTo>
                <a:lnTo>
                  <a:pt x="1046351" y="0"/>
                </a:lnTo>
                <a:lnTo>
                  <a:pt x="1046351" y="1969175"/>
                </a:lnTo>
                <a:lnTo>
                  <a:pt x="0" y="19691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55497" y="1149886"/>
            <a:ext cx="11377006" cy="7889740"/>
          </a:xfrm>
          <a:custGeom>
            <a:avLst/>
            <a:gdLst/>
            <a:ahLst/>
            <a:cxnLst/>
            <a:rect r="r" b="b" t="t" l="l"/>
            <a:pathLst>
              <a:path h="7889740" w="11377006">
                <a:moveTo>
                  <a:pt x="0" y="0"/>
                </a:moveTo>
                <a:lnTo>
                  <a:pt x="11377006" y="0"/>
                </a:lnTo>
                <a:lnTo>
                  <a:pt x="11377006" y="7889741"/>
                </a:lnTo>
                <a:lnTo>
                  <a:pt x="0" y="78897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59264" y="681884"/>
            <a:ext cx="14169472" cy="9826263"/>
          </a:xfrm>
          <a:custGeom>
            <a:avLst/>
            <a:gdLst/>
            <a:ahLst/>
            <a:cxnLst/>
            <a:rect r="r" b="b" t="t" l="l"/>
            <a:pathLst>
              <a:path h="9826263" w="14169472">
                <a:moveTo>
                  <a:pt x="0" y="0"/>
                </a:moveTo>
                <a:lnTo>
                  <a:pt x="14169472" y="0"/>
                </a:lnTo>
                <a:lnTo>
                  <a:pt x="14169472" y="9826264"/>
                </a:lnTo>
                <a:lnTo>
                  <a:pt x="0" y="98262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141062" y="4083352"/>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146047">
            <a:off x="14643665" y="7041128"/>
            <a:ext cx="6127330" cy="3654117"/>
          </a:xfrm>
          <a:custGeom>
            <a:avLst/>
            <a:gdLst/>
            <a:ahLst/>
            <a:cxnLst/>
            <a:rect r="r" b="b" t="t" l="l"/>
            <a:pathLst>
              <a:path h="3654117" w="6127330">
                <a:moveTo>
                  <a:pt x="0" y="0"/>
                </a:moveTo>
                <a:lnTo>
                  <a:pt x="6127330" y="0"/>
                </a:lnTo>
                <a:lnTo>
                  <a:pt x="6127330" y="3654117"/>
                </a:lnTo>
                <a:lnTo>
                  <a:pt x="0" y="36541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929044" y="-1278983"/>
            <a:ext cx="4535351" cy="4114800"/>
          </a:xfrm>
          <a:custGeom>
            <a:avLst/>
            <a:gdLst/>
            <a:ahLst/>
            <a:cxnLst/>
            <a:rect r="r" b="b" t="t" l="l"/>
            <a:pathLst>
              <a:path h="4114800" w="4535351">
                <a:moveTo>
                  <a:pt x="0" y="0"/>
                </a:moveTo>
                <a:lnTo>
                  <a:pt x="4535351" y="0"/>
                </a:lnTo>
                <a:lnTo>
                  <a:pt x="453535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1767777">
            <a:off x="-894034" y="750596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5167673" y="-688840"/>
            <a:ext cx="4183253" cy="4114800"/>
          </a:xfrm>
          <a:custGeom>
            <a:avLst/>
            <a:gdLst/>
            <a:ahLst/>
            <a:cxnLst/>
            <a:rect r="r" b="b" t="t" l="l"/>
            <a:pathLst>
              <a:path h="4114800" w="4183253">
                <a:moveTo>
                  <a:pt x="0" y="0"/>
                </a:moveTo>
                <a:lnTo>
                  <a:pt x="4183254" y="0"/>
                </a:lnTo>
                <a:lnTo>
                  <a:pt x="4183254"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0" id="10"/>
          <p:cNvSpPr txBox="true"/>
          <p:nvPr/>
        </p:nvSpPr>
        <p:spPr>
          <a:xfrm rot="0">
            <a:off x="2957374" y="1575354"/>
            <a:ext cx="13818201" cy="1027565"/>
          </a:xfrm>
          <a:prstGeom prst="rect">
            <a:avLst/>
          </a:prstGeom>
        </p:spPr>
        <p:txBody>
          <a:bodyPr anchor="t" rtlCol="false" tIns="0" lIns="0" bIns="0" rIns="0">
            <a:spAutoFit/>
          </a:bodyPr>
          <a:lstStyle/>
          <a:p>
            <a:pPr algn="l">
              <a:lnSpc>
                <a:spcPts val="8462"/>
              </a:lnSpc>
            </a:pPr>
            <a:r>
              <a:rPr lang="en-US" sz="6044">
                <a:solidFill>
                  <a:srgbClr val="777698"/>
                </a:solidFill>
                <a:latin typeface="Sifonn"/>
                <a:ea typeface="Sifonn"/>
                <a:cs typeface="Sifonn"/>
                <a:sym typeface="Sifonn"/>
              </a:rPr>
              <a:t>FOOTBALL MODULE FEATURES</a:t>
            </a:r>
          </a:p>
        </p:txBody>
      </p:sp>
      <p:sp>
        <p:nvSpPr>
          <p:cNvPr name="TextBox 11" id="11"/>
          <p:cNvSpPr txBox="true"/>
          <p:nvPr/>
        </p:nvSpPr>
        <p:spPr>
          <a:xfrm rot="0">
            <a:off x="2957374" y="3005264"/>
            <a:ext cx="12210299" cy="7502884"/>
          </a:xfrm>
          <a:prstGeom prst="rect">
            <a:avLst/>
          </a:prstGeom>
        </p:spPr>
        <p:txBody>
          <a:bodyPr anchor="t" rtlCol="false" tIns="0" lIns="0" bIns="0" rIns="0">
            <a:spAutoFit/>
          </a:bodyPr>
          <a:lstStyle/>
          <a:p>
            <a:pPr algn="l" marL="827795" indent="-413898" lvl="1">
              <a:lnSpc>
                <a:spcPts val="5367"/>
              </a:lnSpc>
              <a:buFont typeface="Arial"/>
              <a:buChar char="•"/>
            </a:pPr>
            <a:r>
              <a:rPr lang="en-US" b="true" sz="3834">
                <a:solidFill>
                  <a:srgbClr val="1D1F1E"/>
                </a:solidFill>
                <a:latin typeface="Canva Sans Bold"/>
                <a:ea typeface="Canva Sans Bold"/>
                <a:cs typeface="Canva Sans Bold"/>
                <a:sym typeface="Canva Sans Bold"/>
              </a:rPr>
              <a:t>Match Setup: Teams, venue, kickoff time</a:t>
            </a:r>
          </a:p>
          <a:p>
            <a:pPr algn="l" marL="827795" indent="-413898" lvl="1">
              <a:lnSpc>
                <a:spcPts val="5367"/>
              </a:lnSpc>
              <a:buFont typeface="Arial"/>
              <a:buChar char="•"/>
            </a:pPr>
            <a:r>
              <a:rPr lang="en-US" b="true" sz="3834">
                <a:solidFill>
                  <a:srgbClr val="1D1F1E"/>
                </a:solidFill>
                <a:latin typeface="Canva Sans Bold"/>
                <a:ea typeface="Canva Sans Bold"/>
                <a:cs typeface="Canva Sans Bold"/>
                <a:sym typeface="Canva Sans Bold"/>
              </a:rPr>
              <a:t>Live Scoreboard: Goals, fouls, substitutions</a:t>
            </a:r>
          </a:p>
          <a:p>
            <a:pPr algn="l" marL="827795" indent="-413898" lvl="1">
              <a:lnSpc>
                <a:spcPts val="5367"/>
              </a:lnSpc>
              <a:buFont typeface="Arial"/>
              <a:buChar char="•"/>
            </a:pPr>
            <a:r>
              <a:rPr lang="en-US" b="true" sz="3834">
                <a:solidFill>
                  <a:srgbClr val="1D1F1E"/>
                </a:solidFill>
                <a:latin typeface="Canva Sans Bold"/>
                <a:ea typeface="Canva Sans Bold"/>
                <a:cs typeface="Canva Sans Bold"/>
                <a:sym typeface="Canva Sans Bold"/>
              </a:rPr>
              <a:t>Event Tracker:</a:t>
            </a:r>
          </a:p>
          <a:p>
            <a:pPr algn="l" marL="1655591" indent="-551864" lvl="2">
              <a:lnSpc>
                <a:spcPts val="5367"/>
              </a:lnSpc>
              <a:buFont typeface="Arial"/>
              <a:buChar char="⚬"/>
            </a:pPr>
            <a:r>
              <a:rPr lang="en-US" b="true" sz="3834">
                <a:solidFill>
                  <a:srgbClr val="1D1F1E"/>
                </a:solidFill>
                <a:latin typeface="Canva Sans Bold"/>
                <a:ea typeface="Canva Sans Bold"/>
                <a:cs typeface="Canva Sans Bold"/>
                <a:sym typeface="Canva Sans Bold"/>
              </a:rPr>
              <a:t>⚽ Goals (Player, minute)</a:t>
            </a:r>
          </a:p>
          <a:p>
            <a:pPr algn="l" marL="1655591" indent="-551864" lvl="2">
              <a:lnSpc>
                <a:spcPts val="5367"/>
              </a:lnSpc>
              <a:buFont typeface="Arial"/>
              <a:buChar char="⚬"/>
            </a:pPr>
            <a:r>
              <a:rPr lang="en-US" b="true" sz="3834">
                <a:solidFill>
                  <a:srgbClr val="1D1F1E"/>
                </a:solidFill>
                <a:latin typeface="Canva Sans Bold"/>
                <a:ea typeface="Canva Sans Bold"/>
                <a:cs typeface="Canva Sans Bold"/>
                <a:sym typeface="Canva Sans Bold"/>
              </a:rPr>
              <a:t>🟨 Yellow Card / 🟥 Red Card</a:t>
            </a:r>
          </a:p>
          <a:p>
            <a:pPr algn="l" marL="1655591" indent="-551864" lvl="2">
              <a:lnSpc>
                <a:spcPts val="5367"/>
              </a:lnSpc>
              <a:buFont typeface="Arial"/>
              <a:buChar char="⚬"/>
            </a:pPr>
            <a:r>
              <a:rPr lang="en-US" b="true" sz="3834">
                <a:solidFill>
                  <a:srgbClr val="1D1F1E"/>
                </a:solidFill>
                <a:latin typeface="Canva Sans Bold"/>
                <a:ea typeface="Canva Sans Bold"/>
                <a:cs typeface="Canva Sans Bold"/>
                <a:sym typeface="Canva Sans Bold"/>
              </a:rPr>
              <a:t>🔁 Substitution log</a:t>
            </a:r>
          </a:p>
          <a:p>
            <a:pPr algn="l" marL="827795" indent="-413898" lvl="1">
              <a:lnSpc>
                <a:spcPts val="5367"/>
              </a:lnSpc>
              <a:buFont typeface="Arial"/>
              <a:buChar char="•"/>
            </a:pPr>
            <a:r>
              <a:rPr lang="en-US" b="true" sz="3834">
                <a:solidFill>
                  <a:srgbClr val="1D1F1E"/>
                </a:solidFill>
                <a:latin typeface="Canva Sans Bold"/>
                <a:ea typeface="Canva Sans Bold"/>
                <a:cs typeface="Canva Sans Bold"/>
                <a:sym typeface="Canva Sans Bold"/>
              </a:rPr>
              <a:t>Timeline View: Minute-by-minute events</a:t>
            </a:r>
          </a:p>
          <a:p>
            <a:pPr algn="l" marL="827795" indent="-413898" lvl="1">
              <a:lnSpc>
                <a:spcPts val="5367"/>
              </a:lnSpc>
              <a:buFont typeface="Arial"/>
              <a:buChar char="•"/>
            </a:pPr>
            <a:r>
              <a:rPr lang="en-US" b="true" sz="3834">
                <a:solidFill>
                  <a:srgbClr val="1D1F1E"/>
                </a:solidFill>
                <a:latin typeface="Canva Sans Bold"/>
                <a:ea typeface="Canva Sans Bold"/>
                <a:cs typeface="Canva Sans Bold"/>
                <a:sym typeface="Canva Sans Bold"/>
              </a:rPr>
              <a:t>Match Summary: Result, top scorer</a:t>
            </a:r>
          </a:p>
          <a:p>
            <a:pPr algn="l">
              <a:lnSpc>
                <a:spcPts val="5367"/>
              </a:lnSpc>
            </a:pPr>
          </a:p>
          <a:p>
            <a:pPr algn="ctr">
              <a:lnSpc>
                <a:spcPts val="5367"/>
              </a:lnSpc>
            </a:pPr>
          </a:p>
          <a:p>
            <a:pPr algn="ctr">
              <a:lnSpc>
                <a:spcPts val="6418"/>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69120" y="-606327"/>
            <a:ext cx="15258929" cy="13899497"/>
          </a:xfrm>
          <a:custGeom>
            <a:avLst/>
            <a:gdLst/>
            <a:ahLst/>
            <a:cxnLst/>
            <a:rect r="r" b="b" t="t" l="l"/>
            <a:pathLst>
              <a:path h="13899497" w="15258929">
                <a:moveTo>
                  <a:pt x="0" y="0"/>
                </a:moveTo>
                <a:lnTo>
                  <a:pt x="15258929" y="0"/>
                </a:lnTo>
                <a:lnTo>
                  <a:pt x="15258929" y="13899497"/>
                </a:lnTo>
                <a:lnTo>
                  <a:pt x="0" y="138994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39018">
            <a:off x="-235975" y="8029907"/>
            <a:ext cx="3050187" cy="2456787"/>
          </a:xfrm>
          <a:custGeom>
            <a:avLst/>
            <a:gdLst/>
            <a:ahLst/>
            <a:cxnLst/>
            <a:rect r="r" b="b" t="t" l="l"/>
            <a:pathLst>
              <a:path h="2456787" w="3050187">
                <a:moveTo>
                  <a:pt x="0" y="0"/>
                </a:moveTo>
                <a:lnTo>
                  <a:pt x="3050186" y="0"/>
                </a:lnTo>
                <a:lnTo>
                  <a:pt x="3050186" y="2456786"/>
                </a:lnTo>
                <a:lnTo>
                  <a:pt x="0" y="24567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502553" y="7507942"/>
            <a:ext cx="3513493" cy="3500717"/>
          </a:xfrm>
          <a:custGeom>
            <a:avLst/>
            <a:gdLst/>
            <a:ahLst/>
            <a:cxnLst/>
            <a:rect r="r" b="b" t="t" l="l"/>
            <a:pathLst>
              <a:path h="3500717" w="3513493">
                <a:moveTo>
                  <a:pt x="0" y="0"/>
                </a:moveTo>
                <a:lnTo>
                  <a:pt x="3513494" y="0"/>
                </a:lnTo>
                <a:lnTo>
                  <a:pt x="3513494" y="3500716"/>
                </a:lnTo>
                <a:lnTo>
                  <a:pt x="0" y="35007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3126256">
            <a:off x="346826" y="-532474"/>
            <a:ext cx="1884583" cy="4866295"/>
          </a:xfrm>
          <a:custGeom>
            <a:avLst/>
            <a:gdLst/>
            <a:ahLst/>
            <a:cxnLst/>
            <a:rect r="r" b="b" t="t" l="l"/>
            <a:pathLst>
              <a:path h="4866295" w="1884583">
                <a:moveTo>
                  <a:pt x="0" y="0"/>
                </a:moveTo>
                <a:lnTo>
                  <a:pt x="1884583" y="0"/>
                </a:lnTo>
                <a:lnTo>
                  <a:pt x="1884583" y="4866295"/>
                </a:lnTo>
                <a:lnTo>
                  <a:pt x="0" y="48662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7543091">
            <a:off x="16997449" y="-1606336"/>
            <a:ext cx="2581102" cy="4114800"/>
          </a:xfrm>
          <a:custGeom>
            <a:avLst/>
            <a:gdLst/>
            <a:ahLst/>
            <a:cxnLst/>
            <a:rect r="r" b="b" t="t" l="l"/>
            <a:pathLst>
              <a:path h="4114800" w="2581102">
                <a:moveTo>
                  <a:pt x="0" y="0"/>
                </a:moveTo>
                <a:lnTo>
                  <a:pt x="2581102" y="0"/>
                </a:lnTo>
                <a:lnTo>
                  <a:pt x="2581102"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6185527">
            <a:off x="13815878" y="-251985"/>
            <a:ext cx="1046352" cy="1969176"/>
          </a:xfrm>
          <a:custGeom>
            <a:avLst/>
            <a:gdLst/>
            <a:ahLst/>
            <a:cxnLst/>
            <a:rect r="r" b="b" t="t" l="l"/>
            <a:pathLst>
              <a:path h="1969176" w="1046352">
                <a:moveTo>
                  <a:pt x="0" y="0"/>
                </a:moveTo>
                <a:lnTo>
                  <a:pt x="1046352" y="0"/>
                </a:lnTo>
                <a:lnTo>
                  <a:pt x="1046352" y="1969176"/>
                </a:lnTo>
                <a:lnTo>
                  <a:pt x="0" y="19691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289118" y="3523728"/>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4268741" y="1405905"/>
            <a:ext cx="8992809" cy="8687278"/>
          </a:xfrm>
          <a:custGeom>
            <a:avLst/>
            <a:gdLst/>
            <a:ahLst/>
            <a:cxnLst/>
            <a:rect r="r" b="b" t="t" l="l"/>
            <a:pathLst>
              <a:path h="8687278" w="8992809">
                <a:moveTo>
                  <a:pt x="0" y="0"/>
                </a:moveTo>
                <a:lnTo>
                  <a:pt x="8992809" y="0"/>
                </a:lnTo>
                <a:lnTo>
                  <a:pt x="8992809" y="8687278"/>
                </a:lnTo>
                <a:lnTo>
                  <a:pt x="0" y="8687278"/>
                </a:lnTo>
                <a:lnTo>
                  <a:pt x="0" y="0"/>
                </a:lnTo>
                <a:close/>
              </a:path>
            </a:pathLst>
          </a:custGeom>
          <a:blipFill>
            <a:blip r:embed="rId18"/>
            <a:stretch>
              <a:fillRect l="0" t="0" r="0" b="0"/>
            </a:stretch>
          </a:blipFill>
        </p:spPr>
      </p:sp>
      <p:sp>
        <p:nvSpPr>
          <p:cNvPr name="TextBox 11" id="11"/>
          <p:cNvSpPr txBox="true"/>
          <p:nvPr/>
        </p:nvSpPr>
        <p:spPr>
          <a:xfrm rot="0">
            <a:off x="4027301" y="146745"/>
            <a:ext cx="9475689" cy="1038367"/>
          </a:xfrm>
          <a:prstGeom prst="rect">
            <a:avLst/>
          </a:prstGeom>
        </p:spPr>
        <p:txBody>
          <a:bodyPr anchor="t" rtlCol="false" tIns="0" lIns="0" bIns="0" rIns="0">
            <a:spAutoFit/>
          </a:bodyPr>
          <a:lstStyle/>
          <a:p>
            <a:pPr algn="ctr">
              <a:lnSpc>
                <a:spcPts val="8392"/>
              </a:lnSpc>
            </a:pPr>
            <a:r>
              <a:rPr lang="en-US" sz="5994">
                <a:solidFill>
                  <a:srgbClr val="504EA2"/>
                </a:solidFill>
                <a:latin typeface="Sifonn"/>
                <a:ea typeface="Sifonn"/>
                <a:cs typeface="Sifonn"/>
                <a:sym typeface="Sifonn"/>
              </a:rPr>
              <a:t>TESTING AND OUTPUT</a:t>
            </a:r>
          </a:p>
        </p:txBody>
      </p:sp>
      <p:sp>
        <p:nvSpPr>
          <p:cNvPr name="TextBox 12" id="12"/>
          <p:cNvSpPr txBox="true"/>
          <p:nvPr/>
        </p:nvSpPr>
        <p:spPr>
          <a:xfrm rot="0">
            <a:off x="3087848" y="1348755"/>
            <a:ext cx="13273438" cy="521412"/>
          </a:xfrm>
          <a:prstGeom prst="rect">
            <a:avLst/>
          </a:prstGeom>
        </p:spPr>
        <p:txBody>
          <a:bodyPr anchor="t" rtlCol="false" tIns="0" lIns="0" bIns="0" rIns="0">
            <a:spAutoFit/>
          </a:bodyPr>
          <a:lstStyle/>
          <a:p>
            <a:pPr algn="just">
              <a:lnSpc>
                <a:spcPts val="4335"/>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69120" y="-606327"/>
            <a:ext cx="15258929" cy="13899497"/>
          </a:xfrm>
          <a:custGeom>
            <a:avLst/>
            <a:gdLst/>
            <a:ahLst/>
            <a:cxnLst/>
            <a:rect r="r" b="b" t="t" l="l"/>
            <a:pathLst>
              <a:path h="13899497" w="15258929">
                <a:moveTo>
                  <a:pt x="0" y="0"/>
                </a:moveTo>
                <a:lnTo>
                  <a:pt x="15258929" y="0"/>
                </a:lnTo>
                <a:lnTo>
                  <a:pt x="15258929" y="13899497"/>
                </a:lnTo>
                <a:lnTo>
                  <a:pt x="0" y="138994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185527">
            <a:off x="16915615" y="-79155"/>
            <a:ext cx="1046352" cy="1969176"/>
          </a:xfrm>
          <a:custGeom>
            <a:avLst/>
            <a:gdLst/>
            <a:ahLst/>
            <a:cxnLst/>
            <a:rect r="r" b="b" t="t" l="l"/>
            <a:pathLst>
              <a:path h="1969176" w="1046352">
                <a:moveTo>
                  <a:pt x="0" y="0"/>
                </a:moveTo>
                <a:lnTo>
                  <a:pt x="1046351" y="0"/>
                </a:lnTo>
                <a:lnTo>
                  <a:pt x="1046351" y="1969176"/>
                </a:lnTo>
                <a:lnTo>
                  <a:pt x="0" y="19691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28700" y="1185112"/>
            <a:ext cx="16403311" cy="8718056"/>
          </a:xfrm>
          <a:custGeom>
            <a:avLst/>
            <a:gdLst/>
            <a:ahLst/>
            <a:cxnLst/>
            <a:rect r="r" b="b" t="t" l="l"/>
            <a:pathLst>
              <a:path h="8718056" w="16403311">
                <a:moveTo>
                  <a:pt x="0" y="0"/>
                </a:moveTo>
                <a:lnTo>
                  <a:pt x="16403311" y="0"/>
                </a:lnTo>
                <a:lnTo>
                  <a:pt x="16403311" y="8718056"/>
                </a:lnTo>
                <a:lnTo>
                  <a:pt x="0" y="8718056"/>
                </a:lnTo>
                <a:lnTo>
                  <a:pt x="0" y="0"/>
                </a:lnTo>
                <a:close/>
              </a:path>
            </a:pathLst>
          </a:custGeom>
          <a:blipFill>
            <a:blip r:embed="rId8"/>
            <a:stretch>
              <a:fillRect l="0" t="0" r="0" b="0"/>
            </a:stretch>
          </a:blipFill>
        </p:spPr>
      </p:sp>
      <p:sp>
        <p:nvSpPr>
          <p:cNvPr name="TextBox 6" id="6"/>
          <p:cNvSpPr txBox="true"/>
          <p:nvPr/>
        </p:nvSpPr>
        <p:spPr>
          <a:xfrm rot="0">
            <a:off x="4027301" y="146745"/>
            <a:ext cx="9475689" cy="1038367"/>
          </a:xfrm>
          <a:prstGeom prst="rect">
            <a:avLst/>
          </a:prstGeom>
        </p:spPr>
        <p:txBody>
          <a:bodyPr anchor="t" rtlCol="false" tIns="0" lIns="0" bIns="0" rIns="0">
            <a:spAutoFit/>
          </a:bodyPr>
          <a:lstStyle/>
          <a:p>
            <a:pPr algn="ctr">
              <a:lnSpc>
                <a:spcPts val="8392"/>
              </a:lnSpc>
            </a:pPr>
            <a:r>
              <a:rPr lang="en-US" sz="5994">
                <a:solidFill>
                  <a:srgbClr val="504EA2"/>
                </a:solidFill>
                <a:latin typeface="Sifonn"/>
                <a:ea typeface="Sifonn"/>
                <a:cs typeface="Sifonn"/>
                <a:sym typeface="Sifonn"/>
              </a:rPr>
              <a:t>TESTING AND OUTPUT</a:t>
            </a:r>
          </a:p>
        </p:txBody>
      </p:sp>
      <p:sp>
        <p:nvSpPr>
          <p:cNvPr name="TextBox 7" id="7"/>
          <p:cNvSpPr txBox="true"/>
          <p:nvPr/>
        </p:nvSpPr>
        <p:spPr>
          <a:xfrm rot="0">
            <a:off x="3087848" y="1348755"/>
            <a:ext cx="13273438" cy="521412"/>
          </a:xfrm>
          <a:prstGeom prst="rect">
            <a:avLst/>
          </a:prstGeom>
        </p:spPr>
        <p:txBody>
          <a:bodyPr anchor="t" rtlCol="false" tIns="0" lIns="0" bIns="0" rIns="0">
            <a:spAutoFit/>
          </a:bodyPr>
          <a:lstStyle/>
          <a:p>
            <a:pPr algn="just">
              <a:lnSpc>
                <a:spcPts val="4335"/>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69120" y="-606327"/>
            <a:ext cx="15258929" cy="13899497"/>
          </a:xfrm>
          <a:custGeom>
            <a:avLst/>
            <a:gdLst/>
            <a:ahLst/>
            <a:cxnLst/>
            <a:rect r="r" b="b" t="t" l="l"/>
            <a:pathLst>
              <a:path h="13899497" w="15258929">
                <a:moveTo>
                  <a:pt x="0" y="0"/>
                </a:moveTo>
                <a:lnTo>
                  <a:pt x="15258929" y="0"/>
                </a:lnTo>
                <a:lnTo>
                  <a:pt x="15258929" y="13899497"/>
                </a:lnTo>
                <a:lnTo>
                  <a:pt x="0" y="138994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39018">
            <a:off x="-235975" y="8029907"/>
            <a:ext cx="3050187" cy="2456787"/>
          </a:xfrm>
          <a:custGeom>
            <a:avLst/>
            <a:gdLst/>
            <a:ahLst/>
            <a:cxnLst/>
            <a:rect r="r" b="b" t="t" l="l"/>
            <a:pathLst>
              <a:path h="2456787" w="3050187">
                <a:moveTo>
                  <a:pt x="0" y="0"/>
                </a:moveTo>
                <a:lnTo>
                  <a:pt x="3050186" y="0"/>
                </a:lnTo>
                <a:lnTo>
                  <a:pt x="3050186" y="2456786"/>
                </a:lnTo>
                <a:lnTo>
                  <a:pt x="0" y="24567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502553" y="7507942"/>
            <a:ext cx="3513493" cy="3500717"/>
          </a:xfrm>
          <a:custGeom>
            <a:avLst/>
            <a:gdLst/>
            <a:ahLst/>
            <a:cxnLst/>
            <a:rect r="r" b="b" t="t" l="l"/>
            <a:pathLst>
              <a:path h="3500717" w="3513493">
                <a:moveTo>
                  <a:pt x="0" y="0"/>
                </a:moveTo>
                <a:lnTo>
                  <a:pt x="3513494" y="0"/>
                </a:lnTo>
                <a:lnTo>
                  <a:pt x="3513494" y="3500716"/>
                </a:lnTo>
                <a:lnTo>
                  <a:pt x="0" y="35007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3126256">
            <a:off x="346826" y="-532474"/>
            <a:ext cx="1884583" cy="4866295"/>
          </a:xfrm>
          <a:custGeom>
            <a:avLst/>
            <a:gdLst/>
            <a:ahLst/>
            <a:cxnLst/>
            <a:rect r="r" b="b" t="t" l="l"/>
            <a:pathLst>
              <a:path h="4866295" w="1884583">
                <a:moveTo>
                  <a:pt x="0" y="0"/>
                </a:moveTo>
                <a:lnTo>
                  <a:pt x="1884583" y="0"/>
                </a:lnTo>
                <a:lnTo>
                  <a:pt x="1884583" y="4866295"/>
                </a:lnTo>
                <a:lnTo>
                  <a:pt x="0" y="48662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7543091">
            <a:off x="16997449" y="-1606336"/>
            <a:ext cx="2581102" cy="4114800"/>
          </a:xfrm>
          <a:custGeom>
            <a:avLst/>
            <a:gdLst/>
            <a:ahLst/>
            <a:cxnLst/>
            <a:rect r="r" b="b" t="t" l="l"/>
            <a:pathLst>
              <a:path h="4114800" w="2581102">
                <a:moveTo>
                  <a:pt x="0" y="0"/>
                </a:moveTo>
                <a:lnTo>
                  <a:pt x="2581102" y="0"/>
                </a:lnTo>
                <a:lnTo>
                  <a:pt x="2581102"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6185527">
            <a:off x="16404873" y="2088818"/>
            <a:ext cx="1046352" cy="1969176"/>
          </a:xfrm>
          <a:custGeom>
            <a:avLst/>
            <a:gdLst/>
            <a:ahLst/>
            <a:cxnLst/>
            <a:rect r="r" b="b" t="t" l="l"/>
            <a:pathLst>
              <a:path h="1969176" w="1046352">
                <a:moveTo>
                  <a:pt x="0" y="0"/>
                </a:moveTo>
                <a:lnTo>
                  <a:pt x="1046352" y="0"/>
                </a:lnTo>
                <a:lnTo>
                  <a:pt x="1046352" y="1969175"/>
                </a:lnTo>
                <a:lnTo>
                  <a:pt x="0" y="19691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289118" y="3523728"/>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3949901" y="1483776"/>
            <a:ext cx="10502329" cy="8719171"/>
          </a:xfrm>
          <a:custGeom>
            <a:avLst/>
            <a:gdLst/>
            <a:ahLst/>
            <a:cxnLst/>
            <a:rect r="r" b="b" t="t" l="l"/>
            <a:pathLst>
              <a:path h="8719171" w="10502329">
                <a:moveTo>
                  <a:pt x="0" y="0"/>
                </a:moveTo>
                <a:lnTo>
                  <a:pt x="10502329" y="0"/>
                </a:lnTo>
                <a:lnTo>
                  <a:pt x="10502329" y="8719171"/>
                </a:lnTo>
                <a:lnTo>
                  <a:pt x="0" y="8719171"/>
                </a:lnTo>
                <a:lnTo>
                  <a:pt x="0" y="0"/>
                </a:lnTo>
                <a:close/>
              </a:path>
            </a:pathLst>
          </a:custGeom>
          <a:blipFill>
            <a:blip r:embed="rId18"/>
            <a:stretch>
              <a:fillRect l="-717" t="0" r="-3087" b="-8199"/>
            </a:stretch>
          </a:blipFill>
        </p:spPr>
      </p:sp>
      <p:sp>
        <p:nvSpPr>
          <p:cNvPr name="TextBox 11" id="11"/>
          <p:cNvSpPr txBox="true"/>
          <p:nvPr/>
        </p:nvSpPr>
        <p:spPr>
          <a:xfrm rot="0">
            <a:off x="4144940" y="445408"/>
            <a:ext cx="10307290" cy="1038367"/>
          </a:xfrm>
          <a:prstGeom prst="rect">
            <a:avLst/>
          </a:prstGeom>
        </p:spPr>
        <p:txBody>
          <a:bodyPr anchor="t" rtlCol="false" tIns="0" lIns="0" bIns="0" rIns="0">
            <a:spAutoFit/>
          </a:bodyPr>
          <a:lstStyle/>
          <a:p>
            <a:pPr algn="ctr">
              <a:lnSpc>
                <a:spcPts val="8392"/>
              </a:lnSpc>
            </a:pPr>
            <a:r>
              <a:rPr lang="en-US" sz="5994">
                <a:solidFill>
                  <a:srgbClr val="504EA2"/>
                </a:solidFill>
                <a:latin typeface="Sifonn"/>
                <a:ea typeface="Sifonn"/>
                <a:cs typeface="Sifonn"/>
                <a:sym typeface="Sifonn"/>
              </a:rPr>
              <a:t>DATABASE INTEGRATION </a:t>
            </a:r>
          </a:p>
        </p:txBody>
      </p:sp>
      <p:sp>
        <p:nvSpPr>
          <p:cNvPr name="TextBox 12" id="12"/>
          <p:cNvSpPr txBox="true"/>
          <p:nvPr/>
        </p:nvSpPr>
        <p:spPr>
          <a:xfrm rot="0">
            <a:off x="3087848" y="1348755"/>
            <a:ext cx="13273438" cy="521412"/>
          </a:xfrm>
          <a:prstGeom prst="rect">
            <a:avLst/>
          </a:prstGeom>
        </p:spPr>
        <p:txBody>
          <a:bodyPr anchor="t" rtlCol="false" tIns="0" lIns="0" bIns="0" rIns="0">
            <a:spAutoFit/>
          </a:bodyPr>
          <a:lstStyle/>
          <a:p>
            <a:pPr algn="just">
              <a:lnSpc>
                <a:spcPts val="4335"/>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1387" y="-463343"/>
            <a:ext cx="15001268" cy="13664792"/>
          </a:xfrm>
          <a:custGeom>
            <a:avLst/>
            <a:gdLst/>
            <a:ahLst/>
            <a:cxnLst/>
            <a:rect r="r" b="b" t="t" l="l"/>
            <a:pathLst>
              <a:path h="13664792" w="15001268">
                <a:moveTo>
                  <a:pt x="0" y="0"/>
                </a:moveTo>
                <a:lnTo>
                  <a:pt x="15001269" y="0"/>
                </a:lnTo>
                <a:lnTo>
                  <a:pt x="15001269" y="13664792"/>
                </a:lnTo>
                <a:lnTo>
                  <a:pt x="0" y="136647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056312" y="2347891"/>
            <a:ext cx="12426666" cy="7159327"/>
          </a:xfrm>
          <a:prstGeom prst="rect">
            <a:avLst/>
          </a:prstGeom>
        </p:spPr>
        <p:txBody>
          <a:bodyPr anchor="t" rtlCol="false" tIns="0" lIns="0" bIns="0" rIns="0">
            <a:spAutoFit/>
          </a:bodyPr>
          <a:lstStyle/>
          <a:p>
            <a:pPr algn="just">
              <a:lnSpc>
                <a:spcPts val="4391"/>
              </a:lnSpc>
            </a:pPr>
            <a:r>
              <a:rPr lang="en-US" sz="3136" u="sng">
                <a:solidFill>
                  <a:srgbClr val="90BF7D"/>
                </a:solidFill>
                <a:latin typeface="Fredoka"/>
                <a:ea typeface="Fredoka"/>
                <a:cs typeface="Fredoka"/>
                <a:sym typeface="Fredoka"/>
              </a:rPr>
              <a:t>AI-Based Performance Insights</a:t>
            </a:r>
          </a:p>
          <a:p>
            <a:pPr algn="just">
              <a:lnSpc>
                <a:spcPts val="4391"/>
              </a:lnSpc>
            </a:pPr>
            <a:r>
              <a:rPr lang="en-US" sz="3136">
                <a:solidFill>
                  <a:srgbClr val="0A0D0E"/>
                </a:solidFill>
                <a:latin typeface="Fredoka"/>
                <a:ea typeface="Fredoka"/>
                <a:cs typeface="Fredoka"/>
                <a:sym typeface="Fredoka"/>
              </a:rPr>
              <a:t>Use machine learning to predict player form, best performer, and match outcomes.</a:t>
            </a:r>
          </a:p>
          <a:p>
            <a:pPr algn="just">
              <a:lnSpc>
                <a:spcPts val="4391"/>
              </a:lnSpc>
            </a:pPr>
            <a:r>
              <a:rPr lang="en-US" sz="3136" u="sng">
                <a:solidFill>
                  <a:srgbClr val="90BF7D"/>
                </a:solidFill>
                <a:latin typeface="Fredoka"/>
                <a:ea typeface="Fredoka"/>
                <a:cs typeface="Fredoka"/>
                <a:sym typeface="Fredoka"/>
              </a:rPr>
              <a:t>Online &amp; Mobile Integration</a:t>
            </a:r>
          </a:p>
          <a:p>
            <a:pPr algn="just">
              <a:lnSpc>
                <a:spcPts val="4391"/>
              </a:lnSpc>
            </a:pPr>
            <a:r>
              <a:rPr lang="en-US" sz="3136">
                <a:solidFill>
                  <a:srgbClr val="0A0D0E"/>
                </a:solidFill>
                <a:latin typeface="Fredoka"/>
                <a:ea typeface="Fredoka"/>
                <a:cs typeface="Fredoka"/>
                <a:sym typeface="Fredoka"/>
              </a:rPr>
              <a:t>Add real-time cloud sync and Android app support for live match updates anywhere.</a:t>
            </a:r>
          </a:p>
          <a:p>
            <a:pPr algn="just">
              <a:lnSpc>
                <a:spcPts val="4391"/>
              </a:lnSpc>
            </a:pPr>
            <a:r>
              <a:rPr lang="en-US" sz="3136" u="sng">
                <a:solidFill>
                  <a:srgbClr val="90BF7D"/>
                </a:solidFill>
                <a:latin typeface="Fredoka"/>
                <a:ea typeface="Fredoka"/>
                <a:cs typeface="Fredoka"/>
                <a:sym typeface="Fredoka"/>
              </a:rPr>
              <a:t>Tournament &amp; Analytics Dashboard</a:t>
            </a:r>
          </a:p>
          <a:p>
            <a:pPr algn="just">
              <a:lnSpc>
                <a:spcPts val="4391"/>
              </a:lnSpc>
            </a:pPr>
            <a:r>
              <a:rPr lang="en-US" sz="3136">
                <a:solidFill>
                  <a:srgbClr val="0A0D0E"/>
                </a:solidFill>
                <a:latin typeface="Fredoka"/>
                <a:ea typeface="Fredoka"/>
                <a:cs typeface="Fredoka"/>
                <a:sym typeface="Fredoka"/>
              </a:rPr>
              <a:t>Manage series, generate points tables, and visualize player/team statistics with charts.</a:t>
            </a:r>
          </a:p>
          <a:p>
            <a:pPr algn="just">
              <a:lnSpc>
                <a:spcPts val="4391"/>
              </a:lnSpc>
            </a:pPr>
            <a:r>
              <a:rPr lang="en-US" sz="3136" u="sng">
                <a:solidFill>
                  <a:srgbClr val="90BF7D"/>
                </a:solidFill>
                <a:latin typeface="Fredoka"/>
                <a:ea typeface="Fredoka"/>
                <a:cs typeface="Fredoka"/>
                <a:sym typeface="Fredoka"/>
              </a:rPr>
              <a:t>Enhanced Reporting &amp; UI</a:t>
            </a:r>
          </a:p>
          <a:p>
            <a:pPr algn="just">
              <a:lnSpc>
                <a:spcPts val="4391"/>
              </a:lnSpc>
            </a:pPr>
            <a:r>
              <a:rPr lang="en-US" sz="3136">
                <a:solidFill>
                  <a:srgbClr val="0A0D0E"/>
                </a:solidFill>
                <a:latin typeface="Fredoka"/>
                <a:ea typeface="Fredoka"/>
                <a:cs typeface="Fredoka"/>
                <a:sym typeface="Fredoka"/>
              </a:rPr>
              <a:t>Include logos, charts, and themes in PDF summaries with a modern, interactive interface.</a:t>
            </a:r>
          </a:p>
          <a:p>
            <a:pPr algn="ctr">
              <a:lnSpc>
                <a:spcPts val="4391"/>
              </a:lnSpc>
            </a:pPr>
          </a:p>
        </p:txBody>
      </p:sp>
      <p:sp>
        <p:nvSpPr>
          <p:cNvPr name="TextBox 5" id="5"/>
          <p:cNvSpPr txBox="true"/>
          <p:nvPr/>
        </p:nvSpPr>
        <p:spPr>
          <a:xfrm rot="0">
            <a:off x="3408737" y="1268643"/>
            <a:ext cx="10130608" cy="928418"/>
          </a:xfrm>
          <a:prstGeom prst="rect">
            <a:avLst/>
          </a:prstGeom>
        </p:spPr>
        <p:txBody>
          <a:bodyPr anchor="t" rtlCol="false" tIns="0" lIns="0" bIns="0" rIns="0">
            <a:spAutoFit/>
          </a:bodyPr>
          <a:lstStyle/>
          <a:p>
            <a:pPr algn="ctr">
              <a:lnSpc>
                <a:spcPts val="7537"/>
              </a:lnSpc>
            </a:pPr>
            <a:r>
              <a:rPr lang="en-US" sz="5384">
                <a:solidFill>
                  <a:srgbClr val="504EA2"/>
                </a:solidFill>
                <a:latin typeface="Sifonn"/>
                <a:ea typeface="Sifonn"/>
                <a:cs typeface="Sifonn"/>
                <a:sym typeface="Sifonn"/>
              </a:rPr>
              <a:t>FUTURE ENHANCEMENTS</a:t>
            </a:r>
          </a:p>
        </p:txBody>
      </p:sp>
      <p:sp>
        <p:nvSpPr>
          <p:cNvPr name="Freeform 6" id="6"/>
          <p:cNvSpPr/>
          <p:nvPr/>
        </p:nvSpPr>
        <p:spPr>
          <a:xfrm flipH="false" flipV="false" rot="0">
            <a:off x="-5823466" y="8447550"/>
            <a:ext cx="6612403" cy="3678900"/>
          </a:xfrm>
          <a:custGeom>
            <a:avLst/>
            <a:gdLst/>
            <a:ahLst/>
            <a:cxnLst/>
            <a:rect r="r" b="b" t="t" l="l"/>
            <a:pathLst>
              <a:path h="3678900" w="6612403">
                <a:moveTo>
                  <a:pt x="0" y="0"/>
                </a:moveTo>
                <a:lnTo>
                  <a:pt x="6612403" y="0"/>
                </a:lnTo>
                <a:lnTo>
                  <a:pt x="6612403" y="3678900"/>
                </a:lnTo>
                <a:lnTo>
                  <a:pt x="0" y="36789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61244">
            <a:off x="14288653" y="-607994"/>
            <a:ext cx="4815191" cy="4114800"/>
          </a:xfrm>
          <a:custGeom>
            <a:avLst/>
            <a:gdLst/>
            <a:ahLst/>
            <a:cxnLst/>
            <a:rect r="r" b="b" t="t" l="l"/>
            <a:pathLst>
              <a:path h="4114800" w="4815191">
                <a:moveTo>
                  <a:pt x="0" y="0"/>
                </a:moveTo>
                <a:lnTo>
                  <a:pt x="4815191" y="0"/>
                </a:lnTo>
                <a:lnTo>
                  <a:pt x="481519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5741238" y="6592156"/>
            <a:ext cx="3755690" cy="4114800"/>
          </a:xfrm>
          <a:custGeom>
            <a:avLst/>
            <a:gdLst/>
            <a:ahLst/>
            <a:cxnLst/>
            <a:rect r="r" b="b" t="t" l="l"/>
            <a:pathLst>
              <a:path h="4114800" w="3755690">
                <a:moveTo>
                  <a:pt x="0" y="0"/>
                </a:moveTo>
                <a:lnTo>
                  <a:pt x="3755690" y="0"/>
                </a:lnTo>
                <a:lnTo>
                  <a:pt x="375569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1320029">
            <a:off x="-706997" y="-586144"/>
            <a:ext cx="3471395" cy="4114800"/>
          </a:xfrm>
          <a:custGeom>
            <a:avLst/>
            <a:gdLst/>
            <a:ahLst/>
            <a:cxnLst/>
            <a:rect r="r" b="b" t="t" l="l"/>
            <a:pathLst>
              <a:path h="4114800" w="3471395">
                <a:moveTo>
                  <a:pt x="0" y="0"/>
                </a:moveTo>
                <a:lnTo>
                  <a:pt x="3471394" y="0"/>
                </a:lnTo>
                <a:lnTo>
                  <a:pt x="3471394"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6185527">
            <a:off x="12552895" y="-506081"/>
            <a:ext cx="1046352" cy="1969176"/>
          </a:xfrm>
          <a:custGeom>
            <a:avLst/>
            <a:gdLst/>
            <a:ahLst/>
            <a:cxnLst/>
            <a:rect r="r" b="b" t="t" l="l"/>
            <a:pathLst>
              <a:path h="1969176" w="1046352">
                <a:moveTo>
                  <a:pt x="0" y="0"/>
                </a:moveTo>
                <a:lnTo>
                  <a:pt x="1046351" y="0"/>
                </a:lnTo>
                <a:lnTo>
                  <a:pt x="1046351" y="1969175"/>
                </a:lnTo>
                <a:lnTo>
                  <a:pt x="0" y="19691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2108679" y="1174963"/>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4507673" y="1031267"/>
            <a:ext cx="9031673" cy="8227033"/>
          </a:xfrm>
          <a:custGeom>
            <a:avLst/>
            <a:gdLst/>
            <a:ahLst/>
            <a:cxnLst/>
            <a:rect r="r" b="b" t="t" l="l"/>
            <a:pathLst>
              <a:path h="8227033" w="9031673">
                <a:moveTo>
                  <a:pt x="0" y="0"/>
                </a:moveTo>
                <a:lnTo>
                  <a:pt x="9031673" y="0"/>
                </a:lnTo>
                <a:lnTo>
                  <a:pt x="9031673" y="8227033"/>
                </a:lnTo>
                <a:lnTo>
                  <a:pt x="0" y="8227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1387" y="-463343"/>
            <a:ext cx="15001268" cy="13664792"/>
          </a:xfrm>
          <a:custGeom>
            <a:avLst/>
            <a:gdLst/>
            <a:ahLst/>
            <a:cxnLst/>
            <a:rect r="r" b="b" t="t" l="l"/>
            <a:pathLst>
              <a:path h="13664792" w="15001268">
                <a:moveTo>
                  <a:pt x="0" y="0"/>
                </a:moveTo>
                <a:lnTo>
                  <a:pt x="15001269" y="0"/>
                </a:lnTo>
                <a:lnTo>
                  <a:pt x="15001269" y="13664792"/>
                </a:lnTo>
                <a:lnTo>
                  <a:pt x="0" y="136647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882514" y="2661456"/>
            <a:ext cx="12126648" cy="6149912"/>
          </a:xfrm>
          <a:prstGeom prst="rect">
            <a:avLst/>
          </a:prstGeom>
        </p:spPr>
        <p:txBody>
          <a:bodyPr anchor="t" rtlCol="false" tIns="0" lIns="0" bIns="0" rIns="0">
            <a:spAutoFit/>
          </a:bodyPr>
          <a:lstStyle/>
          <a:p>
            <a:pPr algn="ctr">
              <a:lnSpc>
                <a:spcPts val="6154"/>
              </a:lnSpc>
            </a:pPr>
            <a:r>
              <a:rPr lang="en-US" sz="4395">
                <a:solidFill>
                  <a:srgbClr val="0A0D0E"/>
                </a:solidFill>
                <a:latin typeface="Fredoka"/>
                <a:ea typeface="Fredoka"/>
                <a:cs typeface="Fredoka"/>
                <a:sym typeface="Fredoka"/>
              </a:rPr>
              <a:t> </a:t>
            </a:r>
          </a:p>
          <a:p>
            <a:pPr algn="ctr" marL="949068" indent="-474534" lvl="1">
              <a:lnSpc>
                <a:spcPts val="6154"/>
              </a:lnSpc>
              <a:buFont typeface="Arial"/>
              <a:buChar char="•"/>
            </a:pPr>
            <a:r>
              <a:rPr lang="en-US" sz="4395">
                <a:solidFill>
                  <a:srgbClr val="0A0D0E"/>
                </a:solidFill>
                <a:latin typeface="Fredoka"/>
                <a:ea typeface="Fredoka"/>
                <a:cs typeface="Fredoka"/>
                <a:sym typeface="Fredoka"/>
              </a:rPr>
              <a:t>Successfully developed a multi-sport scoreboard app.</a:t>
            </a:r>
          </a:p>
          <a:p>
            <a:pPr algn="ctr" marL="949068" indent="-474534" lvl="1">
              <a:lnSpc>
                <a:spcPts val="6154"/>
              </a:lnSpc>
              <a:buFont typeface="Arial"/>
              <a:buChar char="•"/>
            </a:pPr>
            <a:r>
              <a:rPr lang="en-US" sz="4395">
                <a:solidFill>
                  <a:srgbClr val="0A0D0E"/>
                </a:solidFill>
                <a:latin typeface="Fredoka"/>
                <a:ea typeface="Fredoka"/>
                <a:cs typeface="Fredoka"/>
                <a:sym typeface="Fredoka"/>
              </a:rPr>
              <a:t>Applied Object-Oriented Programming, Swing UI, and data persistence concepts.</a:t>
            </a:r>
          </a:p>
          <a:p>
            <a:pPr algn="ctr" marL="949068" indent="-474534" lvl="1">
              <a:lnSpc>
                <a:spcPts val="6154"/>
              </a:lnSpc>
              <a:buFont typeface="Arial"/>
              <a:buChar char="•"/>
            </a:pPr>
            <a:r>
              <a:rPr lang="en-US" sz="4395">
                <a:solidFill>
                  <a:srgbClr val="0A0D0E"/>
                </a:solidFill>
                <a:latin typeface="Fredoka"/>
                <a:ea typeface="Fredoka"/>
                <a:cs typeface="Fredoka"/>
                <a:sym typeface="Fredoka"/>
              </a:rPr>
              <a:t>Enhanced understanding of GUI design and user interaction.</a:t>
            </a:r>
          </a:p>
          <a:p>
            <a:pPr algn="ctr">
              <a:lnSpc>
                <a:spcPts val="6154"/>
              </a:lnSpc>
            </a:pPr>
          </a:p>
        </p:txBody>
      </p:sp>
      <p:sp>
        <p:nvSpPr>
          <p:cNvPr name="TextBox 5" id="5"/>
          <p:cNvSpPr txBox="true"/>
          <p:nvPr/>
        </p:nvSpPr>
        <p:spPr>
          <a:xfrm rot="0">
            <a:off x="4238280" y="1627333"/>
            <a:ext cx="9207483" cy="999146"/>
          </a:xfrm>
          <a:prstGeom prst="rect">
            <a:avLst/>
          </a:prstGeom>
        </p:spPr>
        <p:txBody>
          <a:bodyPr anchor="t" rtlCol="false" tIns="0" lIns="0" bIns="0" rIns="0">
            <a:spAutoFit/>
          </a:bodyPr>
          <a:lstStyle/>
          <a:p>
            <a:pPr algn="ctr">
              <a:lnSpc>
                <a:spcPts val="8104"/>
              </a:lnSpc>
            </a:pPr>
            <a:r>
              <a:rPr lang="en-US" sz="5788">
                <a:solidFill>
                  <a:srgbClr val="504EA2"/>
                </a:solidFill>
                <a:latin typeface="Sifonn"/>
                <a:ea typeface="Sifonn"/>
                <a:cs typeface="Sifonn"/>
                <a:sym typeface="Sifonn"/>
              </a:rPr>
              <a:t>CONCLUSION</a:t>
            </a:r>
          </a:p>
        </p:txBody>
      </p:sp>
      <p:sp>
        <p:nvSpPr>
          <p:cNvPr name="Freeform 6" id="6"/>
          <p:cNvSpPr/>
          <p:nvPr/>
        </p:nvSpPr>
        <p:spPr>
          <a:xfrm flipH="false" flipV="false" rot="0">
            <a:off x="-500017" y="6967554"/>
            <a:ext cx="6612403" cy="3678900"/>
          </a:xfrm>
          <a:custGeom>
            <a:avLst/>
            <a:gdLst/>
            <a:ahLst/>
            <a:cxnLst/>
            <a:rect r="r" b="b" t="t" l="l"/>
            <a:pathLst>
              <a:path h="3678900" w="6612403">
                <a:moveTo>
                  <a:pt x="0" y="0"/>
                </a:moveTo>
                <a:lnTo>
                  <a:pt x="6612403" y="0"/>
                </a:lnTo>
                <a:lnTo>
                  <a:pt x="6612403" y="3678901"/>
                </a:lnTo>
                <a:lnTo>
                  <a:pt x="0" y="36789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61244">
            <a:off x="14288653" y="-607994"/>
            <a:ext cx="4815191" cy="4114800"/>
          </a:xfrm>
          <a:custGeom>
            <a:avLst/>
            <a:gdLst/>
            <a:ahLst/>
            <a:cxnLst/>
            <a:rect r="r" b="b" t="t" l="l"/>
            <a:pathLst>
              <a:path h="4114800" w="4815191">
                <a:moveTo>
                  <a:pt x="0" y="0"/>
                </a:moveTo>
                <a:lnTo>
                  <a:pt x="4815191" y="0"/>
                </a:lnTo>
                <a:lnTo>
                  <a:pt x="481519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5009161" y="6407356"/>
            <a:ext cx="3755690" cy="4114800"/>
          </a:xfrm>
          <a:custGeom>
            <a:avLst/>
            <a:gdLst/>
            <a:ahLst/>
            <a:cxnLst/>
            <a:rect r="r" b="b" t="t" l="l"/>
            <a:pathLst>
              <a:path h="4114800" w="3755690">
                <a:moveTo>
                  <a:pt x="0" y="0"/>
                </a:moveTo>
                <a:lnTo>
                  <a:pt x="3755691" y="0"/>
                </a:lnTo>
                <a:lnTo>
                  <a:pt x="375569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1320029">
            <a:off x="-706997" y="-586144"/>
            <a:ext cx="3471395" cy="4114800"/>
          </a:xfrm>
          <a:custGeom>
            <a:avLst/>
            <a:gdLst/>
            <a:ahLst/>
            <a:cxnLst/>
            <a:rect r="r" b="b" t="t" l="l"/>
            <a:pathLst>
              <a:path h="4114800" w="3471395">
                <a:moveTo>
                  <a:pt x="0" y="0"/>
                </a:moveTo>
                <a:lnTo>
                  <a:pt x="3471394" y="0"/>
                </a:lnTo>
                <a:lnTo>
                  <a:pt x="3471394"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6185527">
            <a:off x="12552895" y="-506081"/>
            <a:ext cx="1046352" cy="1969176"/>
          </a:xfrm>
          <a:custGeom>
            <a:avLst/>
            <a:gdLst/>
            <a:ahLst/>
            <a:cxnLst/>
            <a:rect r="r" b="b" t="t" l="l"/>
            <a:pathLst>
              <a:path h="1969176" w="1046352">
                <a:moveTo>
                  <a:pt x="0" y="0"/>
                </a:moveTo>
                <a:lnTo>
                  <a:pt x="1046351" y="0"/>
                </a:lnTo>
                <a:lnTo>
                  <a:pt x="1046351" y="1969175"/>
                </a:lnTo>
                <a:lnTo>
                  <a:pt x="0" y="19691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2461104" y="715425"/>
            <a:ext cx="1329501" cy="1725762"/>
          </a:xfrm>
          <a:custGeom>
            <a:avLst/>
            <a:gdLst/>
            <a:ahLst/>
            <a:cxnLst/>
            <a:rect r="r" b="b" t="t" l="l"/>
            <a:pathLst>
              <a:path h="1725762" w="1329501">
                <a:moveTo>
                  <a:pt x="0" y="0"/>
                </a:moveTo>
                <a:lnTo>
                  <a:pt x="1329501" y="0"/>
                </a:lnTo>
                <a:lnTo>
                  <a:pt x="1329501" y="1725762"/>
                </a:lnTo>
                <a:lnTo>
                  <a:pt x="0" y="172576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6185527">
            <a:off x="15901332" y="3831368"/>
            <a:ext cx="1046352" cy="1969176"/>
          </a:xfrm>
          <a:custGeom>
            <a:avLst/>
            <a:gdLst/>
            <a:ahLst/>
            <a:cxnLst/>
            <a:rect r="r" b="b" t="t" l="l"/>
            <a:pathLst>
              <a:path h="1969176" w="1046352">
                <a:moveTo>
                  <a:pt x="0" y="0"/>
                </a:moveTo>
                <a:lnTo>
                  <a:pt x="1046351" y="0"/>
                </a:lnTo>
                <a:lnTo>
                  <a:pt x="1046351" y="1969175"/>
                </a:lnTo>
                <a:lnTo>
                  <a:pt x="0" y="19691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55497" y="1149886"/>
            <a:ext cx="11377006" cy="7889740"/>
          </a:xfrm>
          <a:custGeom>
            <a:avLst/>
            <a:gdLst/>
            <a:ahLst/>
            <a:cxnLst/>
            <a:rect r="r" b="b" t="t" l="l"/>
            <a:pathLst>
              <a:path h="7889740" w="11377006">
                <a:moveTo>
                  <a:pt x="0" y="0"/>
                </a:moveTo>
                <a:lnTo>
                  <a:pt x="11377006" y="0"/>
                </a:lnTo>
                <a:lnTo>
                  <a:pt x="11377006" y="7889741"/>
                </a:lnTo>
                <a:lnTo>
                  <a:pt x="0" y="78897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14879" y="400298"/>
            <a:ext cx="14169472" cy="9826263"/>
          </a:xfrm>
          <a:custGeom>
            <a:avLst/>
            <a:gdLst/>
            <a:ahLst/>
            <a:cxnLst/>
            <a:rect r="r" b="b" t="t" l="l"/>
            <a:pathLst>
              <a:path h="9826263" w="14169472">
                <a:moveTo>
                  <a:pt x="0" y="0"/>
                </a:moveTo>
                <a:lnTo>
                  <a:pt x="14169471" y="0"/>
                </a:lnTo>
                <a:lnTo>
                  <a:pt x="14169471" y="9826264"/>
                </a:lnTo>
                <a:lnTo>
                  <a:pt x="0" y="98262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141062" y="4083352"/>
            <a:ext cx="947633" cy="1230078"/>
          </a:xfrm>
          <a:custGeom>
            <a:avLst/>
            <a:gdLst/>
            <a:ahLst/>
            <a:cxnLst/>
            <a:rect r="r" b="b" t="t" l="l"/>
            <a:pathLst>
              <a:path h="1230078" w="947633">
                <a:moveTo>
                  <a:pt x="0" y="0"/>
                </a:moveTo>
                <a:lnTo>
                  <a:pt x="947633" y="0"/>
                </a:lnTo>
                <a:lnTo>
                  <a:pt x="947633" y="1230078"/>
                </a:lnTo>
                <a:lnTo>
                  <a:pt x="0" y="123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146047">
            <a:off x="14643665" y="7041128"/>
            <a:ext cx="6127330" cy="3654117"/>
          </a:xfrm>
          <a:custGeom>
            <a:avLst/>
            <a:gdLst/>
            <a:ahLst/>
            <a:cxnLst/>
            <a:rect r="r" b="b" t="t" l="l"/>
            <a:pathLst>
              <a:path h="3654117" w="6127330">
                <a:moveTo>
                  <a:pt x="0" y="0"/>
                </a:moveTo>
                <a:lnTo>
                  <a:pt x="6127330" y="0"/>
                </a:lnTo>
                <a:lnTo>
                  <a:pt x="6127330" y="3654117"/>
                </a:lnTo>
                <a:lnTo>
                  <a:pt x="0" y="36541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929044" y="-1278983"/>
            <a:ext cx="4535351" cy="4114800"/>
          </a:xfrm>
          <a:custGeom>
            <a:avLst/>
            <a:gdLst/>
            <a:ahLst/>
            <a:cxnLst/>
            <a:rect r="r" b="b" t="t" l="l"/>
            <a:pathLst>
              <a:path h="4114800" w="4535351">
                <a:moveTo>
                  <a:pt x="0" y="0"/>
                </a:moveTo>
                <a:lnTo>
                  <a:pt x="4535351" y="0"/>
                </a:lnTo>
                <a:lnTo>
                  <a:pt x="453535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1767777">
            <a:off x="-894034" y="750596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5167673" y="-688840"/>
            <a:ext cx="4183253" cy="4114800"/>
          </a:xfrm>
          <a:custGeom>
            <a:avLst/>
            <a:gdLst/>
            <a:ahLst/>
            <a:cxnLst/>
            <a:rect r="r" b="b" t="t" l="l"/>
            <a:pathLst>
              <a:path h="4114800" w="4183253">
                <a:moveTo>
                  <a:pt x="0" y="0"/>
                </a:moveTo>
                <a:lnTo>
                  <a:pt x="4183254" y="0"/>
                </a:lnTo>
                <a:lnTo>
                  <a:pt x="4183254"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0" id="10"/>
          <p:cNvSpPr txBox="true"/>
          <p:nvPr/>
        </p:nvSpPr>
        <p:spPr>
          <a:xfrm rot="0">
            <a:off x="1966149" y="832972"/>
            <a:ext cx="13818201" cy="1027565"/>
          </a:xfrm>
          <a:prstGeom prst="rect">
            <a:avLst/>
          </a:prstGeom>
        </p:spPr>
        <p:txBody>
          <a:bodyPr anchor="t" rtlCol="false" tIns="0" lIns="0" bIns="0" rIns="0">
            <a:spAutoFit/>
          </a:bodyPr>
          <a:lstStyle/>
          <a:p>
            <a:pPr algn="ctr">
              <a:lnSpc>
                <a:spcPts val="8462"/>
              </a:lnSpc>
            </a:pPr>
            <a:r>
              <a:rPr lang="en-US" sz="6044">
                <a:solidFill>
                  <a:srgbClr val="777698"/>
                </a:solidFill>
                <a:latin typeface="Sifonn"/>
                <a:ea typeface="Sifonn"/>
                <a:cs typeface="Sifonn"/>
                <a:sym typeface="Sifonn"/>
              </a:rPr>
              <a:t>REFERENCES</a:t>
            </a:r>
          </a:p>
        </p:txBody>
      </p:sp>
      <p:sp>
        <p:nvSpPr>
          <p:cNvPr name="TextBox 11" id="11"/>
          <p:cNvSpPr txBox="true"/>
          <p:nvPr/>
        </p:nvSpPr>
        <p:spPr>
          <a:xfrm rot="0">
            <a:off x="3455497" y="2058109"/>
            <a:ext cx="12699933" cy="8228891"/>
          </a:xfrm>
          <a:prstGeom prst="rect">
            <a:avLst/>
          </a:prstGeom>
        </p:spPr>
        <p:txBody>
          <a:bodyPr anchor="t" rtlCol="false" tIns="0" lIns="0" bIns="0" rIns="0">
            <a:spAutoFit/>
          </a:bodyPr>
          <a:lstStyle/>
          <a:p>
            <a:pPr algn="l" marL="715519" indent="-357759" lvl="1">
              <a:lnSpc>
                <a:spcPts val="4639"/>
              </a:lnSpc>
              <a:buFont typeface="Arial"/>
              <a:buChar char="•"/>
            </a:pPr>
            <a:r>
              <a:rPr lang="en-US" b="true" sz="3314">
                <a:solidFill>
                  <a:srgbClr val="1D1F1E"/>
                </a:solidFill>
                <a:latin typeface="Canva Sans Bold"/>
                <a:ea typeface="Canva Sans Bold"/>
                <a:cs typeface="Canva Sans Bold"/>
                <a:sym typeface="Canva Sans Bold"/>
              </a:rPr>
              <a:t>Oracle Java Documentation</a:t>
            </a:r>
          </a:p>
          <a:p>
            <a:pPr algn="l" marL="715519" indent="-357759" lvl="1">
              <a:lnSpc>
                <a:spcPts val="4639"/>
              </a:lnSpc>
              <a:buFont typeface="Arial"/>
              <a:buChar char="•"/>
            </a:pPr>
            <a:r>
              <a:rPr lang="en-US" b="true" sz="3314">
                <a:solidFill>
                  <a:srgbClr val="1D1F1E"/>
                </a:solidFill>
                <a:latin typeface="Canva Sans Bold"/>
                <a:ea typeface="Canva Sans Bold"/>
                <a:cs typeface="Canva Sans Bold"/>
                <a:sym typeface="Canva Sans Bold"/>
              </a:rPr>
              <a:t>JFreeChart Library Documentation</a:t>
            </a:r>
          </a:p>
          <a:p>
            <a:pPr algn="l" marL="715519" indent="-357759" lvl="1">
              <a:lnSpc>
                <a:spcPts val="4639"/>
              </a:lnSpc>
              <a:buFont typeface="Arial"/>
              <a:buChar char="•"/>
            </a:pPr>
            <a:r>
              <a:rPr lang="en-US" b="true" sz="3314">
                <a:solidFill>
                  <a:srgbClr val="1D1F1E"/>
                </a:solidFill>
                <a:latin typeface="Canva Sans Bold"/>
                <a:ea typeface="Canva Sans Bold"/>
                <a:cs typeface="Canva Sans Bold"/>
                <a:sym typeface="Canva Sans Bold"/>
              </a:rPr>
              <a:t>SQLite JDBC Driver (Xerial)</a:t>
            </a:r>
          </a:p>
          <a:p>
            <a:pPr algn="l">
              <a:lnSpc>
                <a:spcPts val="4639"/>
              </a:lnSpc>
            </a:pPr>
            <a:r>
              <a:rPr lang="en-US" sz="3314">
                <a:solidFill>
                  <a:srgbClr val="1D1F1E"/>
                </a:solidFill>
                <a:latin typeface="Canva Sans"/>
                <a:ea typeface="Canva Sans"/>
                <a:cs typeface="Canva Sans"/>
                <a:sym typeface="Canva Sans"/>
              </a:rPr>
              <a:t>      </a:t>
            </a:r>
            <a:r>
              <a:rPr lang="en-US" sz="3314" b="true">
                <a:solidFill>
                  <a:srgbClr val="1D1F1E"/>
                </a:solidFill>
                <a:latin typeface="Canva Sans Bold"/>
                <a:ea typeface="Canva Sans Bold"/>
                <a:cs typeface="Canva Sans Bold"/>
                <a:sym typeface="Canva Sans Bold"/>
              </a:rPr>
              <a:t>  </a:t>
            </a:r>
            <a:r>
              <a:rPr lang="en-US" b="true" sz="3314" u="sng">
                <a:solidFill>
                  <a:srgbClr val="1D1F1E"/>
                </a:solidFill>
                <a:latin typeface="Canva Sans Bold"/>
                <a:ea typeface="Canva Sans Bold"/>
                <a:cs typeface="Canva Sans Bold"/>
                <a:sym typeface="Canva Sans Bold"/>
                <a:hlinkClick r:id="rId18" tooltip="https://github.com/xerial/sqlite-jdbc"/>
              </a:rPr>
              <a:t>https://github.com/xerial/sqlite-jdbc</a:t>
            </a:r>
          </a:p>
          <a:p>
            <a:pPr algn="l" marL="715519" indent="-357759" lvl="1">
              <a:lnSpc>
                <a:spcPts val="4639"/>
              </a:lnSpc>
              <a:buFont typeface="Arial"/>
              <a:buChar char="•"/>
            </a:pPr>
            <a:r>
              <a:rPr lang="en-US" b="true" sz="3314">
                <a:solidFill>
                  <a:srgbClr val="1D1F1E"/>
                </a:solidFill>
                <a:latin typeface="Canva Sans Bold"/>
                <a:ea typeface="Canva Sans Bold"/>
                <a:cs typeface="Canva Sans Bold"/>
                <a:sym typeface="Canva Sans Bold"/>
              </a:rPr>
              <a:t>Stack Overflow (Java &amp; UI Solutions)</a:t>
            </a:r>
          </a:p>
          <a:p>
            <a:pPr algn="l">
              <a:lnSpc>
                <a:spcPts val="4639"/>
              </a:lnSpc>
            </a:pPr>
            <a:r>
              <a:rPr lang="en-US" sz="3314">
                <a:solidFill>
                  <a:srgbClr val="1D1F1E"/>
                </a:solidFill>
                <a:latin typeface="Canva Sans"/>
                <a:ea typeface="Canva Sans"/>
                <a:cs typeface="Canva Sans"/>
                <a:sym typeface="Canva Sans"/>
              </a:rPr>
              <a:t>        </a:t>
            </a:r>
            <a:r>
              <a:rPr lang="en-US" b="true" sz="3314" u="sng">
                <a:solidFill>
                  <a:srgbClr val="1D1F1E"/>
                </a:solidFill>
                <a:latin typeface="Canva Sans Bold"/>
                <a:ea typeface="Canva Sans Bold"/>
                <a:cs typeface="Canva Sans Bold"/>
                <a:sym typeface="Canva Sans Bold"/>
                <a:hlinkClick r:id="rId19" tooltip="https://stackoverflow.com/questions/tagged/java-swing"/>
              </a:rPr>
              <a:t>https://stackoverflow.com/questions/tagged/java-swing</a:t>
            </a:r>
          </a:p>
          <a:p>
            <a:pPr algn="l" marL="715519" indent="-357759" lvl="1">
              <a:lnSpc>
                <a:spcPts val="4639"/>
              </a:lnSpc>
              <a:buFont typeface="Arial"/>
              <a:buChar char="•"/>
            </a:pPr>
            <a:r>
              <a:rPr lang="en-US" b="true" sz="3314">
                <a:solidFill>
                  <a:srgbClr val="1D1F1E"/>
                </a:solidFill>
                <a:latin typeface="Canva Sans Bold"/>
                <a:ea typeface="Canva Sans Bold"/>
                <a:cs typeface="Canva Sans Bold"/>
                <a:sym typeface="Canva Sans Bold"/>
              </a:rPr>
              <a:t>Java Swing Tutorial – GeeksforGeeks</a:t>
            </a:r>
          </a:p>
          <a:p>
            <a:pPr algn="l">
              <a:lnSpc>
                <a:spcPts val="4639"/>
              </a:lnSpc>
            </a:pPr>
            <a:r>
              <a:rPr lang="en-US" sz="3314">
                <a:solidFill>
                  <a:srgbClr val="1D1F1E"/>
                </a:solidFill>
                <a:latin typeface="Canva Sans"/>
                <a:ea typeface="Canva Sans"/>
                <a:cs typeface="Canva Sans"/>
                <a:sym typeface="Canva Sans"/>
              </a:rPr>
              <a:t>        </a:t>
            </a:r>
            <a:r>
              <a:rPr lang="en-US" sz="3314" b="true">
                <a:solidFill>
                  <a:srgbClr val="1D1F1E"/>
                </a:solidFill>
                <a:latin typeface="Canva Sans Bold"/>
                <a:ea typeface="Canva Sans Bold"/>
                <a:cs typeface="Canva Sans Bold"/>
                <a:sym typeface="Canva Sans Bold"/>
              </a:rPr>
              <a:t>https://www.geeksforgeeks.org/java-swing-tutorial/</a:t>
            </a:r>
          </a:p>
          <a:p>
            <a:pPr algn="l" marL="715519" indent="-357759" lvl="1">
              <a:lnSpc>
                <a:spcPts val="4639"/>
              </a:lnSpc>
              <a:buFont typeface="Arial"/>
              <a:buChar char="•"/>
            </a:pPr>
            <a:r>
              <a:rPr lang="en-US" b="true" sz="3314">
                <a:solidFill>
                  <a:srgbClr val="1D1F1E"/>
                </a:solidFill>
                <a:latin typeface="Canva Sans Bold"/>
                <a:ea typeface="Canva Sans Bold"/>
                <a:cs typeface="Canva Sans Bold"/>
                <a:sym typeface="Canva Sans Bold"/>
              </a:rPr>
              <a:t>SQLite Official Documentation</a:t>
            </a:r>
          </a:p>
          <a:p>
            <a:pPr algn="l">
              <a:lnSpc>
                <a:spcPts val="4639"/>
              </a:lnSpc>
            </a:pPr>
            <a:r>
              <a:rPr lang="en-US" sz="3314">
                <a:solidFill>
                  <a:srgbClr val="1D1F1E"/>
                </a:solidFill>
                <a:latin typeface="Canva Sans"/>
                <a:ea typeface="Canva Sans"/>
                <a:cs typeface="Canva Sans"/>
                <a:sym typeface="Canva Sans"/>
              </a:rPr>
              <a:t>       </a:t>
            </a:r>
            <a:r>
              <a:rPr lang="en-US" sz="3314" b="true">
                <a:solidFill>
                  <a:srgbClr val="1D1F1E"/>
                </a:solidFill>
                <a:latin typeface="Canva Sans Bold"/>
                <a:ea typeface="Canva Sans Bold"/>
                <a:cs typeface="Canva Sans Bold"/>
                <a:sym typeface="Canva Sans Bold"/>
              </a:rPr>
              <a:t> https://www.sqlite.org/docs.html</a:t>
            </a:r>
          </a:p>
          <a:p>
            <a:pPr algn="l" marL="715519" indent="-357759" lvl="1">
              <a:lnSpc>
                <a:spcPts val="4639"/>
              </a:lnSpc>
              <a:buFont typeface="Arial"/>
              <a:buChar char="•"/>
            </a:pPr>
            <a:r>
              <a:rPr lang="en-US" b="true" sz="3314">
                <a:solidFill>
                  <a:srgbClr val="1D1F1E"/>
                </a:solidFill>
                <a:latin typeface="Canva Sans Bold"/>
                <a:ea typeface="Canva Sans Bold"/>
                <a:cs typeface="Canva Sans Bold"/>
                <a:sym typeface="Canva Sans Bold"/>
              </a:rPr>
              <a:t>JDBC (Java Database Connectivity) Guide – Oracle</a:t>
            </a:r>
          </a:p>
          <a:p>
            <a:pPr algn="l">
              <a:lnSpc>
                <a:spcPts val="4639"/>
              </a:lnSpc>
            </a:pPr>
            <a:r>
              <a:rPr lang="en-US" sz="3314">
                <a:solidFill>
                  <a:srgbClr val="1D1F1E"/>
                </a:solidFill>
                <a:latin typeface="Canva Sans"/>
                <a:ea typeface="Canva Sans"/>
                <a:cs typeface="Canva Sans"/>
                <a:sym typeface="Canva Sans"/>
              </a:rPr>
              <a:t>        </a:t>
            </a:r>
            <a:r>
              <a:rPr lang="en-US" b="true" sz="3314" u="sng">
                <a:solidFill>
                  <a:srgbClr val="1D1F1E"/>
                </a:solidFill>
                <a:latin typeface="Canva Sans Bold"/>
                <a:ea typeface="Canva Sans Bold"/>
                <a:cs typeface="Canva Sans Bold"/>
                <a:sym typeface="Canva Sans Bold"/>
                <a:hlinkClick r:id="rId20" tooltip="https://docs.oracle.com/javase/tutorial/jdbc/"/>
              </a:rPr>
              <a:t>Oracle Java Documentation</a:t>
            </a:r>
          </a:p>
          <a:p>
            <a:pPr algn="l" marL="715519" indent="-357759" lvl="1">
              <a:lnSpc>
                <a:spcPts val="4639"/>
              </a:lnSpc>
              <a:buFont typeface="Arial"/>
              <a:buChar char="•"/>
            </a:pPr>
            <a:r>
              <a:rPr lang="en-US" b="true" sz="3314" u="sng">
                <a:solidFill>
                  <a:srgbClr val="1D1F1E"/>
                </a:solidFill>
                <a:latin typeface="Canva Sans Bold"/>
                <a:ea typeface="Canva Sans Bold"/>
                <a:cs typeface="Canva Sans Bold"/>
                <a:sym typeface="Canva Sans Bold"/>
                <a:hlinkClick r:id="rId21" tooltip="https://docs.oracle.com/javase/tutorial/jdbc/"/>
              </a:rPr>
              <a:t>Stack Overflow (UI solutions)</a:t>
            </a:r>
          </a:p>
          <a:p>
            <a:pPr algn="ctr">
              <a:lnSpc>
                <a:spcPts val="5547"/>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6CF"/>
        </a:solidFill>
      </p:bgPr>
    </p:bg>
    <p:spTree>
      <p:nvGrpSpPr>
        <p:cNvPr id="1" name=""/>
        <p:cNvGrpSpPr/>
        <p:nvPr/>
      </p:nvGrpSpPr>
      <p:grpSpPr>
        <a:xfrm>
          <a:off x="0" y="0"/>
          <a:ext cx="0" cy="0"/>
          <a:chOff x="0" y="0"/>
          <a:chExt cx="0" cy="0"/>
        </a:xfrm>
      </p:grpSpPr>
      <p:sp>
        <p:nvSpPr>
          <p:cNvPr name="Freeform 2" id="2"/>
          <p:cNvSpPr/>
          <p:nvPr/>
        </p:nvSpPr>
        <p:spPr>
          <a:xfrm flipH="false" flipV="false" rot="0">
            <a:off x="-1777495" y="4961721"/>
            <a:ext cx="6803794" cy="6766683"/>
          </a:xfrm>
          <a:custGeom>
            <a:avLst/>
            <a:gdLst/>
            <a:ahLst/>
            <a:cxnLst/>
            <a:rect r="r" b="b" t="t" l="l"/>
            <a:pathLst>
              <a:path h="6766683" w="6803794">
                <a:moveTo>
                  <a:pt x="0" y="0"/>
                </a:moveTo>
                <a:lnTo>
                  <a:pt x="6803794" y="0"/>
                </a:lnTo>
                <a:lnTo>
                  <a:pt x="6803794" y="6766682"/>
                </a:lnTo>
                <a:lnTo>
                  <a:pt x="0" y="67666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395419" y="5627170"/>
            <a:ext cx="5673123" cy="5621549"/>
          </a:xfrm>
          <a:custGeom>
            <a:avLst/>
            <a:gdLst/>
            <a:ahLst/>
            <a:cxnLst/>
            <a:rect r="r" b="b" t="t" l="l"/>
            <a:pathLst>
              <a:path h="5621549" w="5673123">
                <a:moveTo>
                  <a:pt x="5673123" y="0"/>
                </a:moveTo>
                <a:lnTo>
                  <a:pt x="0" y="0"/>
                </a:lnTo>
                <a:lnTo>
                  <a:pt x="0" y="5621548"/>
                </a:lnTo>
                <a:lnTo>
                  <a:pt x="5673123" y="5621548"/>
                </a:lnTo>
                <a:lnTo>
                  <a:pt x="567312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901192">
            <a:off x="-868403" y="-316668"/>
            <a:ext cx="2191276" cy="7627860"/>
          </a:xfrm>
          <a:custGeom>
            <a:avLst/>
            <a:gdLst/>
            <a:ahLst/>
            <a:cxnLst/>
            <a:rect r="r" b="b" t="t" l="l"/>
            <a:pathLst>
              <a:path h="7627860" w="2191276">
                <a:moveTo>
                  <a:pt x="0" y="0"/>
                </a:moveTo>
                <a:lnTo>
                  <a:pt x="2191276" y="0"/>
                </a:lnTo>
                <a:lnTo>
                  <a:pt x="2191276" y="7627860"/>
                </a:lnTo>
                <a:lnTo>
                  <a:pt x="0" y="76278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443317" y="-1311257"/>
            <a:ext cx="5625225" cy="5604770"/>
          </a:xfrm>
          <a:custGeom>
            <a:avLst/>
            <a:gdLst/>
            <a:ahLst/>
            <a:cxnLst/>
            <a:rect r="r" b="b" t="t" l="l"/>
            <a:pathLst>
              <a:path h="5604770" w="5625225">
                <a:moveTo>
                  <a:pt x="0" y="0"/>
                </a:moveTo>
                <a:lnTo>
                  <a:pt x="5625225" y="0"/>
                </a:lnTo>
                <a:lnTo>
                  <a:pt x="5625225" y="5604770"/>
                </a:lnTo>
                <a:lnTo>
                  <a:pt x="0" y="56047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026299" y="1116596"/>
            <a:ext cx="8235402" cy="8053807"/>
          </a:xfrm>
          <a:custGeom>
            <a:avLst/>
            <a:gdLst/>
            <a:ahLst/>
            <a:cxnLst/>
            <a:rect r="r" b="b" t="t" l="l"/>
            <a:pathLst>
              <a:path h="8053807" w="8235402">
                <a:moveTo>
                  <a:pt x="0" y="0"/>
                </a:moveTo>
                <a:lnTo>
                  <a:pt x="8235402" y="0"/>
                </a:lnTo>
                <a:lnTo>
                  <a:pt x="8235402" y="8053808"/>
                </a:lnTo>
                <a:lnTo>
                  <a:pt x="0" y="80538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1137725">
            <a:off x="2880559" y="-63361"/>
            <a:ext cx="2093963" cy="2945473"/>
          </a:xfrm>
          <a:custGeom>
            <a:avLst/>
            <a:gdLst/>
            <a:ahLst/>
            <a:cxnLst/>
            <a:rect r="r" b="b" t="t" l="l"/>
            <a:pathLst>
              <a:path h="2945473" w="2093963">
                <a:moveTo>
                  <a:pt x="0" y="0"/>
                </a:moveTo>
                <a:lnTo>
                  <a:pt x="2093964" y="0"/>
                </a:lnTo>
                <a:lnTo>
                  <a:pt x="2093964" y="2945472"/>
                </a:lnTo>
                <a:lnTo>
                  <a:pt x="0" y="29454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6185527">
            <a:off x="11325329" y="-688491"/>
            <a:ext cx="1046352" cy="1969176"/>
          </a:xfrm>
          <a:custGeom>
            <a:avLst/>
            <a:gdLst/>
            <a:ahLst/>
            <a:cxnLst/>
            <a:rect r="r" b="b" t="t" l="l"/>
            <a:pathLst>
              <a:path h="1969176" w="1046352">
                <a:moveTo>
                  <a:pt x="0" y="0"/>
                </a:moveTo>
                <a:lnTo>
                  <a:pt x="1046351" y="0"/>
                </a:lnTo>
                <a:lnTo>
                  <a:pt x="1046351" y="1969176"/>
                </a:lnTo>
                <a:lnTo>
                  <a:pt x="0" y="19691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3528130" y="3533604"/>
            <a:ext cx="798822" cy="1036912"/>
          </a:xfrm>
          <a:custGeom>
            <a:avLst/>
            <a:gdLst/>
            <a:ahLst/>
            <a:cxnLst/>
            <a:rect r="r" b="b" t="t" l="l"/>
            <a:pathLst>
              <a:path h="1036912" w="798822">
                <a:moveTo>
                  <a:pt x="0" y="0"/>
                </a:moveTo>
                <a:lnTo>
                  <a:pt x="798822" y="0"/>
                </a:lnTo>
                <a:lnTo>
                  <a:pt x="798822" y="1036913"/>
                </a:lnTo>
                <a:lnTo>
                  <a:pt x="0" y="103691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11654439" y="9475433"/>
            <a:ext cx="1450977" cy="1773286"/>
          </a:xfrm>
          <a:custGeom>
            <a:avLst/>
            <a:gdLst/>
            <a:ahLst/>
            <a:cxnLst/>
            <a:rect r="r" b="b" t="t" l="l"/>
            <a:pathLst>
              <a:path h="1773286" w="1450977">
                <a:moveTo>
                  <a:pt x="0" y="0"/>
                </a:moveTo>
                <a:lnTo>
                  <a:pt x="1450977" y="0"/>
                </a:lnTo>
                <a:lnTo>
                  <a:pt x="1450977" y="1773285"/>
                </a:lnTo>
                <a:lnTo>
                  <a:pt x="0" y="177328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1" id="11"/>
          <p:cNvSpPr txBox="true"/>
          <p:nvPr/>
        </p:nvSpPr>
        <p:spPr>
          <a:xfrm rot="0">
            <a:off x="6781024" y="3656886"/>
            <a:ext cx="4725952" cy="1932222"/>
          </a:xfrm>
          <a:prstGeom prst="rect">
            <a:avLst/>
          </a:prstGeom>
        </p:spPr>
        <p:txBody>
          <a:bodyPr anchor="t" rtlCol="false" tIns="0" lIns="0" bIns="0" rIns="0">
            <a:spAutoFit/>
          </a:bodyPr>
          <a:lstStyle/>
          <a:p>
            <a:pPr algn="ctr">
              <a:lnSpc>
                <a:spcPts val="12880"/>
              </a:lnSpc>
            </a:pPr>
            <a:r>
              <a:rPr lang="en-US" sz="9200">
                <a:solidFill>
                  <a:srgbClr val="777698"/>
                </a:solidFill>
                <a:latin typeface="Sifonn"/>
                <a:ea typeface="Sifonn"/>
                <a:cs typeface="Sifonn"/>
                <a:sym typeface="Sifonn"/>
              </a:rPr>
              <a:t>THANK</a:t>
            </a:r>
          </a:p>
        </p:txBody>
      </p:sp>
      <p:sp>
        <p:nvSpPr>
          <p:cNvPr name="TextBox 12" id="12"/>
          <p:cNvSpPr txBox="true"/>
          <p:nvPr/>
        </p:nvSpPr>
        <p:spPr>
          <a:xfrm rot="0">
            <a:off x="6913024" y="4892120"/>
            <a:ext cx="4461951" cy="1566544"/>
          </a:xfrm>
          <a:prstGeom prst="rect">
            <a:avLst/>
          </a:prstGeom>
        </p:spPr>
        <p:txBody>
          <a:bodyPr anchor="t" rtlCol="false" tIns="0" lIns="0" bIns="0" rIns="0">
            <a:spAutoFit/>
          </a:bodyPr>
          <a:lstStyle/>
          <a:p>
            <a:pPr algn="ctr">
              <a:lnSpc>
                <a:spcPts val="12880"/>
              </a:lnSpc>
            </a:pPr>
            <a:r>
              <a:rPr lang="en-US" sz="9200">
                <a:solidFill>
                  <a:srgbClr val="777698"/>
                </a:solidFill>
                <a:latin typeface="Sifonn"/>
                <a:ea typeface="Sifonn"/>
                <a:cs typeface="Sifonn"/>
                <a:sym typeface="Sifonn"/>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DAGzuXVwHtI</dc:identifier>
  <dcterms:modified xsi:type="dcterms:W3CDTF">2011-08-01T06:04:30Z</dcterms:modified>
  <cp:revision>1</cp:revision>
  <dc:title>NEXUS</dc:title>
</cp:coreProperties>
</file>